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33400" y="1428750"/>
            <a:ext cx="11125200" cy="190500"/>
          </a:xfrm>
          <a:prstGeom prst="rect">
            <a:avLst/>
          </a:prstGeom>
          <a:noFill/>
        </p:spPr>
        <p:txBody>
          <a:bodyPr wrap="square" lIns="0" rIns="0" tIns="0" bIns="0" anchor="t">
            <a:spAutoFit/>
          </a:bodyPr>
          <a:lstStyle/>
          <a:p>
            <a:pPr algn="l"/>
            <a:r>
              <a:rPr sz="1100" b="1" i="0">
                <a:solidFill>
                  <a:srgbClr val="7C8B9A"/>
                </a:solidFill>
                <a:latin typeface="Segoe UI"/>
              </a:rPr>
              <a:t>SMART INDIA HACKATHON 2026  *  NATIONAL SCREENING STAGE</a:t>
            </a:r>
          </a:p>
        </p:txBody>
      </p:sp>
      <p:sp>
        <p:nvSpPr>
          <p:cNvPr id="4" name="TextBox 3"/>
          <p:cNvSpPr txBox="1"/>
          <p:nvPr/>
        </p:nvSpPr>
        <p:spPr>
          <a:xfrm>
            <a:off x="533400" y="1676400"/>
            <a:ext cx="11125200" cy="876300"/>
          </a:xfrm>
          <a:prstGeom prst="rect">
            <a:avLst/>
          </a:prstGeom>
          <a:noFill/>
        </p:spPr>
        <p:txBody>
          <a:bodyPr wrap="square" lIns="0" rIns="0" tIns="0" bIns="0" anchor="t">
            <a:spAutoFit/>
          </a:bodyPr>
          <a:lstStyle/>
          <a:p>
            <a:pPr algn="l"/>
            <a:r>
              <a:rPr sz="5400" b="1" i="0">
                <a:solidFill>
                  <a:srgbClr val="0F2A4A"/>
                </a:solidFill>
                <a:latin typeface="Segoe UI"/>
              </a:rPr>
              <a:t>DrishtiCare</a:t>
            </a:r>
          </a:p>
        </p:txBody>
      </p:sp>
      <p:sp>
        <p:nvSpPr>
          <p:cNvPr id="5" name="Rectangle 4"/>
          <p:cNvSpPr/>
          <p:nvPr/>
        </p:nvSpPr>
        <p:spPr>
          <a:xfrm>
            <a:off x="533400" y="26479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3400" y="2838450"/>
            <a:ext cx="7810500" cy="644525"/>
          </a:xfrm>
          <a:prstGeom prst="rect">
            <a:avLst/>
          </a:prstGeom>
          <a:noFill/>
        </p:spPr>
        <p:txBody>
          <a:bodyPr wrap="square" lIns="0" rIns="0" tIns="0" bIns="0" anchor="t">
            <a:spAutoFit/>
          </a:bodyPr>
          <a:lstStyle/>
          <a:p>
            <a:pPr algn="l">
              <a:lnSpc>
                <a:spcPct val="145000"/>
              </a:lnSpc>
            </a:pPr>
            <a:r>
              <a:rPr sz="1400" b="0" i="0">
                <a:solidFill>
                  <a:srgbClr val="40505F"/>
                </a:solidFill>
                <a:latin typeface="Segoe UI"/>
              </a:rPr>
              <a:t>Quality-aware, explainable diabetic-retinopathy screening for rural healthcare workflows - built in MATLAB and Simulink.</a:t>
            </a:r>
          </a:p>
        </p:txBody>
      </p:sp>
      <p:sp>
        <p:nvSpPr>
          <p:cNvPr id="7" name="Rectangle 6"/>
          <p:cNvSpPr/>
          <p:nvPr/>
        </p:nvSpPr>
        <p:spPr>
          <a:xfrm>
            <a:off x="533400" y="3619500"/>
            <a:ext cx="2695575"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7700" y="3733800"/>
            <a:ext cx="2466975" cy="133350"/>
          </a:xfrm>
          <a:prstGeom prst="rect">
            <a:avLst/>
          </a:prstGeom>
          <a:noFill/>
        </p:spPr>
        <p:txBody>
          <a:bodyPr wrap="square" lIns="0" rIns="0" tIns="0" bIns="0" anchor="t">
            <a:spAutoFit/>
          </a:bodyPr>
          <a:lstStyle/>
          <a:p>
            <a:pPr algn="l"/>
            <a:r>
              <a:rPr sz="800" b="0" i="0">
                <a:solidFill>
                  <a:srgbClr val="7C8B9A"/>
                </a:solidFill>
                <a:latin typeface="Segoe UI"/>
              </a:rPr>
              <a:t>Problem statement</a:t>
            </a:r>
          </a:p>
        </p:txBody>
      </p:sp>
      <p:sp>
        <p:nvSpPr>
          <p:cNvPr id="9" name="TextBox 8"/>
          <p:cNvSpPr txBox="1"/>
          <p:nvPr/>
        </p:nvSpPr>
        <p:spPr>
          <a:xfrm>
            <a:off x="647700" y="3905250"/>
            <a:ext cx="2466975" cy="209550"/>
          </a:xfrm>
          <a:prstGeom prst="rect">
            <a:avLst/>
          </a:prstGeom>
          <a:noFill/>
        </p:spPr>
        <p:txBody>
          <a:bodyPr wrap="square" lIns="0" rIns="0" tIns="0" bIns="0" anchor="t">
            <a:spAutoFit/>
          </a:bodyPr>
          <a:lstStyle/>
          <a:p>
            <a:pPr algn="l"/>
            <a:r>
              <a:rPr sz="1200" b="1" i="0">
                <a:solidFill>
                  <a:srgbClr val="0F2A4A"/>
                </a:solidFill>
                <a:latin typeface="Segoe UI"/>
              </a:rPr>
              <a:t>SIH 26038</a:t>
            </a:r>
          </a:p>
        </p:txBody>
      </p:sp>
      <p:sp>
        <p:nvSpPr>
          <p:cNvPr id="10" name="Rectangle 9"/>
          <p:cNvSpPr/>
          <p:nvPr/>
        </p:nvSpPr>
        <p:spPr>
          <a:xfrm>
            <a:off x="3343275" y="3619500"/>
            <a:ext cx="2695575"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457575" y="3733800"/>
            <a:ext cx="2466975" cy="133350"/>
          </a:xfrm>
          <a:prstGeom prst="rect">
            <a:avLst/>
          </a:prstGeom>
          <a:noFill/>
        </p:spPr>
        <p:txBody>
          <a:bodyPr wrap="square" lIns="0" rIns="0" tIns="0" bIns="0" anchor="t">
            <a:spAutoFit/>
          </a:bodyPr>
          <a:lstStyle/>
          <a:p>
            <a:pPr algn="l"/>
            <a:r>
              <a:rPr sz="800" b="0" i="0">
                <a:solidFill>
                  <a:srgbClr val="7C8B9A"/>
                </a:solidFill>
                <a:latin typeface="Segoe UI"/>
              </a:rPr>
              <a:t>Sponsor</a:t>
            </a:r>
          </a:p>
        </p:txBody>
      </p:sp>
      <p:sp>
        <p:nvSpPr>
          <p:cNvPr id="12" name="TextBox 11"/>
          <p:cNvSpPr txBox="1"/>
          <p:nvPr/>
        </p:nvSpPr>
        <p:spPr>
          <a:xfrm>
            <a:off x="3457575" y="3905250"/>
            <a:ext cx="2466975" cy="209550"/>
          </a:xfrm>
          <a:prstGeom prst="rect">
            <a:avLst/>
          </a:prstGeom>
          <a:noFill/>
        </p:spPr>
        <p:txBody>
          <a:bodyPr wrap="square" lIns="0" rIns="0" tIns="0" bIns="0" anchor="t">
            <a:spAutoFit/>
          </a:bodyPr>
          <a:lstStyle/>
          <a:p>
            <a:pPr algn="l"/>
            <a:r>
              <a:rPr sz="1200" b="1" i="0">
                <a:solidFill>
                  <a:srgbClr val="0F2A4A"/>
                </a:solidFill>
                <a:latin typeface="Segoe UI"/>
              </a:rPr>
              <a:t>MathWorks</a:t>
            </a:r>
          </a:p>
        </p:txBody>
      </p:sp>
      <p:sp>
        <p:nvSpPr>
          <p:cNvPr id="13" name="Rectangle 12"/>
          <p:cNvSpPr/>
          <p:nvPr/>
        </p:nvSpPr>
        <p:spPr>
          <a:xfrm>
            <a:off x="6153150" y="3619500"/>
            <a:ext cx="2695575"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67450" y="3733800"/>
            <a:ext cx="2466975" cy="133350"/>
          </a:xfrm>
          <a:prstGeom prst="rect">
            <a:avLst/>
          </a:prstGeom>
          <a:noFill/>
        </p:spPr>
        <p:txBody>
          <a:bodyPr wrap="square" lIns="0" rIns="0" tIns="0" bIns="0" anchor="t">
            <a:spAutoFit/>
          </a:bodyPr>
          <a:lstStyle/>
          <a:p>
            <a:pPr algn="l"/>
            <a:r>
              <a:rPr sz="800" b="0" i="0">
                <a:solidFill>
                  <a:srgbClr val="7C8B9A"/>
                </a:solidFill>
                <a:latin typeface="Segoe UI"/>
              </a:rPr>
              <a:t>Team</a:t>
            </a:r>
          </a:p>
        </p:txBody>
      </p:sp>
      <p:sp>
        <p:nvSpPr>
          <p:cNvPr id="15" name="TextBox 14"/>
          <p:cNvSpPr txBox="1"/>
          <p:nvPr/>
        </p:nvSpPr>
        <p:spPr>
          <a:xfrm>
            <a:off x="6267450" y="3905250"/>
            <a:ext cx="2466975" cy="209550"/>
          </a:xfrm>
          <a:prstGeom prst="rect">
            <a:avLst/>
          </a:prstGeom>
          <a:noFill/>
        </p:spPr>
        <p:txBody>
          <a:bodyPr wrap="square" lIns="0" rIns="0" tIns="0" bIns="0" anchor="t">
            <a:spAutoFit/>
          </a:bodyPr>
          <a:lstStyle/>
          <a:p>
            <a:pPr algn="l"/>
            <a:r>
              <a:rPr sz="1200" b="1" i="0">
                <a:solidFill>
                  <a:srgbClr val="0F2A4A"/>
                </a:solidFill>
                <a:latin typeface="Segoe UI"/>
              </a:rPr>
              <a:t>6 members + mentors</a:t>
            </a:r>
          </a:p>
        </p:txBody>
      </p:sp>
      <p:sp>
        <p:nvSpPr>
          <p:cNvPr id="16" name="Rectangle 15"/>
          <p:cNvSpPr/>
          <p:nvPr/>
        </p:nvSpPr>
        <p:spPr>
          <a:xfrm>
            <a:off x="8963025" y="3619500"/>
            <a:ext cx="2695575"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077325" y="3733800"/>
            <a:ext cx="2466975" cy="133350"/>
          </a:xfrm>
          <a:prstGeom prst="rect">
            <a:avLst/>
          </a:prstGeom>
          <a:noFill/>
        </p:spPr>
        <p:txBody>
          <a:bodyPr wrap="square" lIns="0" rIns="0" tIns="0" bIns="0" anchor="t">
            <a:spAutoFit/>
          </a:bodyPr>
          <a:lstStyle/>
          <a:p>
            <a:pPr algn="l"/>
            <a:r>
              <a:rPr sz="800" b="0" i="0">
                <a:solidFill>
                  <a:srgbClr val="7C8B9A"/>
                </a:solidFill>
                <a:latin typeface="Segoe UI"/>
              </a:rPr>
              <a:t>SIH Team ID</a:t>
            </a:r>
          </a:p>
        </p:txBody>
      </p:sp>
      <p:sp>
        <p:nvSpPr>
          <p:cNvPr id="18" name="TextBox 17"/>
          <p:cNvSpPr txBox="1"/>
          <p:nvPr/>
        </p:nvSpPr>
        <p:spPr>
          <a:xfrm>
            <a:off x="9077325" y="3905250"/>
            <a:ext cx="2466975" cy="209550"/>
          </a:xfrm>
          <a:prstGeom prst="rect">
            <a:avLst/>
          </a:prstGeom>
          <a:noFill/>
        </p:spPr>
        <p:txBody>
          <a:bodyPr wrap="square" lIns="0" rIns="0" tIns="0" bIns="0" anchor="t">
            <a:spAutoFit/>
          </a:bodyPr>
          <a:lstStyle/>
          <a:p>
            <a:pPr algn="l"/>
            <a:r>
              <a:rPr sz="1200" b="1" i="0">
                <a:solidFill>
                  <a:srgbClr val="0F2A4A"/>
                </a:solidFill>
                <a:latin typeface="Segoe UI"/>
              </a:rPr>
              <a:t>________________</a:t>
            </a:r>
          </a:p>
        </p:txBody>
      </p:sp>
      <p:sp>
        <p:nvSpPr>
          <p:cNvPr id="19" name="Rectangle 18"/>
          <p:cNvSpPr/>
          <p:nvPr/>
        </p:nvSpPr>
        <p:spPr>
          <a:xfrm>
            <a:off x="533400" y="4724400"/>
            <a:ext cx="11125200" cy="704850"/>
          </a:xfrm>
          <a:prstGeom prst="rect">
            <a:avLst/>
          </a:prstGeom>
          <a:solidFill>
            <a:srgbClr val="FDF2F2"/>
          </a:solidFill>
          <a:ln w="12700">
            <a:solidFill>
              <a:srgbClr val="E8C8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6750" y="4857750"/>
            <a:ext cx="10858500" cy="495300"/>
          </a:xfrm>
          <a:prstGeom prst="rect">
            <a:avLst/>
          </a:prstGeom>
          <a:noFill/>
        </p:spPr>
        <p:txBody>
          <a:bodyPr wrap="square" lIns="0" rIns="0" tIns="0" bIns="0" anchor="t">
            <a:spAutoFit/>
          </a:bodyPr>
          <a:lstStyle/>
          <a:p>
            <a:pPr algn="l">
              <a:lnSpc>
                <a:spcPct val="140000"/>
              </a:lnSpc>
            </a:pPr>
            <a:r>
              <a:rPr sz="950" b="1">
                <a:solidFill>
                  <a:srgbClr val="B42B2B"/>
                </a:solidFill>
                <a:latin typeface="Segoe UI"/>
              </a:rPr>
              <a:t>ENGINEERING PROTOTYPE - NOT A CLINICAL DEVICE. </a:t>
            </a:r>
            <a:r>
              <a:rPr sz="950" b="0">
                <a:solidFill>
                  <a:srgbClr val="40505F"/>
                </a:solidFill>
                <a:latin typeface="Segoe UI"/>
              </a:rPr>
              <a:t>No clinical validation has been performed. Grades, Grad-CAM overlays, OOD flags and lesion candidate counts are engineering demonstrations and must not be used for diagnosis, treatment or triage decisions.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61950"/>
            <a:ext cx="11125200" cy="171450"/>
          </a:xfrm>
          <a:prstGeom prst="rect">
            <a:avLst/>
          </a:prstGeom>
          <a:noFill/>
        </p:spPr>
        <p:txBody>
          <a:bodyPr wrap="square" lIns="0" rIns="0" tIns="0" bIns="0" anchor="t">
            <a:spAutoFit/>
          </a:bodyPr>
          <a:lstStyle/>
          <a:p>
            <a:pPr algn="l"/>
            <a:r>
              <a:rPr sz="1050" b="1" i="0">
                <a:solidFill>
                  <a:srgbClr val="7C8B9A"/>
                </a:solidFill>
                <a:latin typeface="Segoe UI"/>
              </a:rPr>
              <a:t>THE PROBLEM, AND WHAT WE ACTUALLY BUILT</a:t>
            </a:r>
          </a:p>
        </p:txBody>
      </p:sp>
      <p:sp>
        <p:nvSpPr>
          <p:cNvPr id="3" name="TextBox 2"/>
          <p:cNvSpPr txBox="1"/>
          <p:nvPr/>
        </p:nvSpPr>
        <p:spPr>
          <a:xfrm>
            <a:off x="533400" y="552450"/>
            <a:ext cx="11125200" cy="762000"/>
          </a:xfrm>
          <a:prstGeom prst="rect">
            <a:avLst/>
          </a:prstGeom>
          <a:noFill/>
        </p:spPr>
        <p:txBody>
          <a:bodyPr wrap="square" lIns="0" rIns="0" tIns="0" bIns="0" anchor="t">
            <a:spAutoFit/>
          </a:bodyPr>
          <a:lstStyle/>
          <a:p>
            <a:pPr algn="l">
              <a:lnSpc>
                <a:spcPct val="110000"/>
              </a:lnSpc>
            </a:pPr>
            <a:r>
              <a:rPr sz="2300" b="1">
                <a:solidFill>
                  <a:srgbClr val="0F2A4A"/>
                </a:solidFill>
                <a:latin typeface="Segoe UI"/>
              </a:rPr>
              <a:t>Diabetic retinopathy is found late, because </a:t>
            </a:r>
            <a:r>
              <a:rPr sz="2300" b="0">
                <a:solidFill>
                  <a:srgbClr val="7C8B9A"/>
                </a:solidFill>
                <a:latin typeface="Segoe UI"/>
              </a:rPr>
              <a:t>screening capacity is the constraint</a:t>
            </a:r>
          </a:p>
        </p:txBody>
      </p:sp>
      <p:sp>
        <p:nvSpPr>
          <p:cNvPr id="4" name="Rectangle 3"/>
          <p:cNvSpPr/>
          <p:nvPr/>
        </p:nvSpPr>
        <p:spPr>
          <a:xfrm>
            <a:off x="533400" y="13525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3400" y="1543050"/>
            <a:ext cx="11125200" cy="266700"/>
          </a:xfrm>
          <a:prstGeom prst="rect">
            <a:avLst/>
          </a:prstGeom>
          <a:noFill/>
        </p:spPr>
        <p:txBody>
          <a:bodyPr wrap="square" lIns="0" rIns="0" tIns="0" bIns="0" anchor="t">
            <a:spAutoFit/>
          </a:bodyPr>
          <a:lstStyle/>
          <a:p>
            <a:pPr algn="l">
              <a:lnSpc>
                <a:spcPct val="140000"/>
              </a:lnSpc>
            </a:pPr>
            <a:r>
              <a:rPr sz="1200" b="0" i="0">
                <a:solidFill>
                  <a:srgbClr val="40505F"/>
                </a:solidFill>
                <a:latin typeface="Segoe UI"/>
              </a:rPr>
              <a:t>Where the load actually falls</a:t>
            </a:r>
          </a:p>
        </p:txBody>
      </p:sp>
      <p:sp>
        <p:nvSpPr>
          <p:cNvPr id="6" name="TextBox 5"/>
          <p:cNvSpPr txBox="1"/>
          <p:nvPr/>
        </p:nvSpPr>
        <p:spPr>
          <a:xfrm>
            <a:off x="533400" y="1981200"/>
            <a:ext cx="5334000" cy="794147"/>
          </a:xfrm>
          <a:prstGeom prst="rect">
            <a:avLst/>
          </a:prstGeom>
          <a:noFill/>
        </p:spPr>
        <p:txBody>
          <a:bodyPr wrap="square" lIns="0" rIns="0" tIns="0" bIns="0" anchor="t">
            <a:spAutoFit/>
          </a:bodyPr>
          <a:lstStyle/>
          <a:p>
            <a:pPr algn="l">
              <a:lnSpc>
                <a:spcPct val="145000"/>
              </a:lnSpc>
            </a:pPr>
            <a:r>
              <a:rPr sz="1150" b="0">
                <a:solidFill>
                  <a:srgbClr val="40505F"/>
                </a:solidFill>
                <a:latin typeface="Segoe UI"/>
              </a:rPr>
              <a:t>At the planning assumption of 100,000 patients a year, our own measured operating point generates </a:t>
            </a:r>
            <a:r>
              <a:rPr sz="1150" b="1">
                <a:solidFill>
                  <a:srgbClr val="0F2A4A"/>
                </a:solidFill>
                <a:latin typeface="Segoe UI"/>
              </a:rPr>
              <a:t>153.6 specialist referrals per working day</a:t>
            </a:r>
            <a:r>
              <a:rPr sz="1150" b="0">
                <a:solidFill>
                  <a:srgbClr val="40505F"/>
                </a:solidFill>
                <a:latin typeface="Segoe UI"/>
              </a:rPr>
              <a:t> - 38,406 a year.</a:t>
            </a:r>
          </a:p>
        </p:txBody>
      </p:sp>
      <p:sp>
        <p:nvSpPr>
          <p:cNvPr id="7" name="TextBox 6"/>
          <p:cNvSpPr txBox="1"/>
          <p:nvPr/>
        </p:nvSpPr>
        <p:spPr>
          <a:xfrm>
            <a:off x="533400" y="2832497"/>
            <a:ext cx="5334000" cy="794147"/>
          </a:xfrm>
          <a:prstGeom prst="rect">
            <a:avLst/>
          </a:prstGeom>
          <a:noFill/>
        </p:spPr>
        <p:txBody>
          <a:bodyPr wrap="square" lIns="0" rIns="0" tIns="0" bIns="0" anchor="t">
            <a:spAutoFit/>
          </a:bodyPr>
          <a:lstStyle/>
          <a:p>
            <a:pPr algn="l">
              <a:lnSpc>
                <a:spcPct val="145000"/>
              </a:lnSpc>
            </a:pPr>
            <a:r>
              <a:rPr sz="1150" b="0">
                <a:solidFill>
                  <a:srgbClr val="40505F"/>
                </a:solidFill>
                <a:latin typeface="Segoe UI"/>
              </a:rPr>
              <a:t>General ophthalmology is not the binding constraint. For vitreoretinal grading it is retina specialists, at roughly </a:t>
            </a:r>
            <a:r>
              <a:rPr sz="1150" b="1">
                <a:solidFill>
                  <a:srgbClr val="0F2A4A"/>
                </a:solidFill>
                <a:latin typeface="Segoe UI"/>
              </a:rPr>
              <a:t>one per 1.26 million</a:t>
            </a:r>
            <a:r>
              <a:rPr sz="1150" b="0">
                <a:solidFill>
                  <a:srgbClr val="40505F"/>
                </a:solidFill>
                <a:latin typeface="Segoe UI"/>
              </a:rPr>
              <a:t> population.</a:t>
            </a:r>
          </a:p>
        </p:txBody>
      </p:sp>
      <p:sp>
        <p:nvSpPr>
          <p:cNvPr id="8" name="Rectangle 7"/>
          <p:cNvSpPr/>
          <p:nvPr/>
        </p:nvSpPr>
        <p:spPr>
          <a:xfrm>
            <a:off x="6096000" y="1981200"/>
            <a:ext cx="5562600" cy="717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29350" y="2095500"/>
            <a:ext cx="5295900" cy="488950"/>
          </a:xfrm>
          <a:prstGeom prst="rect">
            <a:avLst/>
          </a:prstGeom>
          <a:noFill/>
        </p:spPr>
        <p:txBody>
          <a:bodyPr wrap="square" lIns="0" rIns="0" tIns="0" bIns="0" anchor="t">
            <a:spAutoFit/>
          </a:bodyPr>
          <a:lstStyle/>
          <a:p>
            <a:pPr algn="l">
              <a:lnSpc>
                <a:spcPct val="140000"/>
              </a:lnSpc>
            </a:pPr>
            <a:r>
              <a:rPr sz="1100" b="0">
                <a:solidFill>
                  <a:srgbClr val="40505F"/>
                </a:solidFill>
                <a:latin typeface="Segoe UI"/>
              </a:rPr>
              <a:t>So the useful question is not "can a CNN grade a retina". It is </a:t>
            </a:r>
            <a:r>
              <a:rPr sz="1100" b="1">
                <a:solidFill>
                  <a:srgbClr val="0F2A4A"/>
                </a:solidFill>
                <a:latin typeface="Segoe UI"/>
              </a:rPr>
              <a:t>what does the system do with an image it should not answer?</a:t>
            </a:r>
          </a:p>
        </p:txBody>
      </p:sp>
      <p:sp>
        <p:nvSpPr>
          <p:cNvPr id="10" name="Rectangle 9"/>
          <p:cNvSpPr/>
          <p:nvPr/>
        </p:nvSpPr>
        <p:spPr>
          <a:xfrm>
            <a:off x="6096000" y="2813050"/>
            <a:ext cx="5562600" cy="895350"/>
          </a:xfrm>
          <a:prstGeom prst="rect">
            <a:avLst/>
          </a:prstGeom>
          <a:solidFill>
            <a:srgbClr val="FFFFFF"/>
          </a:solidFill>
          <a:ln w="19050">
            <a:solidFill>
              <a:srgbClr val="10656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29350" y="2927350"/>
            <a:ext cx="5295900" cy="666750"/>
          </a:xfrm>
          <a:prstGeom prst="rect">
            <a:avLst/>
          </a:prstGeom>
          <a:noFill/>
        </p:spPr>
        <p:txBody>
          <a:bodyPr wrap="square" lIns="0" rIns="0" tIns="0" bIns="0" anchor="t">
            <a:spAutoFit/>
          </a:bodyPr>
          <a:lstStyle/>
          <a:p>
            <a:pPr algn="l">
              <a:lnSpc>
                <a:spcPct val="140000"/>
              </a:lnSpc>
            </a:pPr>
            <a:r>
              <a:rPr sz="1000" b="1">
                <a:solidFill>
                  <a:srgbClr val="10656D"/>
                </a:solidFill>
                <a:latin typeface="Segoe UI"/>
              </a:rPr>
              <a:t>Our answer: </a:t>
            </a:r>
            <a:r>
              <a:rPr sz="1000" b="0">
                <a:solidFill>
                  <a:srgbClr val="40505F"/>
                </a:solidFill>
                <a:latin typeface="Segoe UI"/>
              </a:rPr>
              <a:t>a screening workflow whose </a:t>
            </a:r>
            <a:r>
              <a:rPr sz="1000" b="1">
                <a:solidFill>
                  <a:srgbClr val="10656D"/>
                </a:solidFill>
                <a:latin typeface="Segoe UI"/>
              </a:rPr>
              <a:t>quality gate runs before the model</a:t>
            </a:r>
            <a:r>
              <a:rPr sz="1000" b="0">
                <a:solidFill>
                  <a:srgbClr val="40505F"/>
                </a:solidFill>
                <a:latin typeface="Segoe UI"/>
              </a:rPr>
              <a:t>. A poor or unfamiliar image is withheld for recapture rather than graded. That refusal behaviour - not the classifier - is the product.</a:t>
            </a:r>
          </a:p>
        </p:txBody>
      </p:sp>
      <p:sp>
        <p:nvSpPr>
          <p:cNvPr id="12" name="Rectangle 11"/>
          <p:cNvSpPr/>
          <p:nvPr/>
        </p:nvSpPr>
        <p:spPr>
          <a:xfrm>
            <a:off x="533400" y="3848100"/>
            <a:ext cx="2667000" cy="20193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04_PASS_fundus.png"/>
          <p:cNvPicPr>
            <a:picLocks noChangeAspect="1"/>
          </p:cNvPicPr>
          <p:nvPr/>
        </p:nvPicPr>
        <p:blipFill>
          <a:blip r:embed="rId2"/>
          <a:stretch>
            <a:fillRect/>
          </a:stretch>
        </p:blipFill>
        <p:spPr>
          <a:xfrm>
            <a:off x="628650" y="3943350"/>
            <a:ext cx="2476500" cy="1581150"/>
          </a:xfrm>
          <a:prstGeom prst="rect">
            <a:avLst/>
          </a:prstGeom>
        </p:spPr>
      </p:pic>
      <p:sp>
        <p:nvSpPr>
          <p:cNvPr id="14" name="TextBox 13"/>
          <p:cNvSpPr txBox="1"/>
          <p:nvPr/>
        </p:nvSpPr>
        <p:spPr>
          <a:xfrm>
            <a:off x="647700" y="5600700"/>
            <a:ext cx="2438400" cy="152400"/>
          </a:xfrm>
          <a:prstGeom prst="rect">
            <a:avLst/>
          </a:prstGeom>
          <a:noFill/>
        </p:spPr>
        <p:txBody>
          <a:bodyPr wrap="square" lIns="0" rIns="0" tIns="0" bIns="0" anchor="t">
            <a:spAutoFit/>
          </a:bodyPr>
          <a:lstStyle/>
          <a:p>
            <a:pPr algn="l"/>
            <a:r>
              <a:rPr sz="1000" b="1" i="0">
                <a:solidFill>
                  <a:srgbClr val="10656D"/>
                </a:solidFill>
                <a:latin typeface="Segoe UI"/>
              </a:rPr>
              <a:t>Graded</a:t>
            </a:r>
          </a:p>
        </p:txBody>
      </p:sp>
      <p:sp>
        <p:nvSpPr>
          <p:cNvPr id="15" name="TextBox 14"/>
          <p:cNvSpPr txBox="1"/>
          <p:nvPr/>
        </p:nvSpPr>
        <p:spPr>
          <a:xfrm>
            <a:off x="647700" y="5772150"/>
            <a:ext cx="2438400" cy="330200"/>
          </a:xfrm>
          <a:prstGeom prst="rect">
            <a:avLst/>
          </a:prstGeom>
          <a:noFill/>
        </p:spPr>
        <p:txBody>
          <a:bodyPr wrap="square" lIns="0" rIns="0" tIns="0" bIns="0" anchor="t">
            <a:spAutoFit/>
          </a:bodyPr>
          <a:lstStyle/>
          <a:p>
            <a:pPr algn="l">
              <a:lnSpc>
                <a:spcPct val="130000"/>
              </a:lnSpc>
            </a:pPr>
            <a:r>
              <a:rPr sz="800" b="0" i="0">
                <a:solidFill>
                  <a:srgbClr val="40505F"/>
                </a:solidFill>
                <a:latin typeface="Segoe UI"/>
              </a:rPr>
              <a:t>Quality PASS. The image proceeds to grading, referral routing and evidence.</a:t>
            </a:r>
          </a:p>
        </p:txBody>
      </p:sp>
      <p:sp>
        <p:nvSpPr>
          <p:cNvPr id="16" name="Rectangle 15"/>
          <p:cNvSpPr/>
          <p:nvPr/>
        </p:nvSpPr>
        <p:spPr>
          <a:xfrm>
            <a:off x="3390900" y="3848100"/>
            <a:ext cx="2667000" cy="20193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04_FAIL_fundus.png"/>
          <p:cNvPicPr>
            <a:picLocks noChangeAspect="1"/>
          </p:cNvPicPr>
          <p:nvPr/>
        </p:nvPicPr>
        <p:blipFill>
          <a:blip r:embed="rId3"/>
          <a:stretch>
            <a:fillRect/>
          </a:stretch>
        </p:blipFill>
        <p:spPr>
          <a:xfrm>
            <a:off x="3486150" y="3943350"/>
            <a:ext cx="2476500" cy="1581150"/>
          </a:xfrm>
          <a:prstGeom prst="rect">
            <a:avLst/>
          </a:prstGeom>
        </p:spPr>
      </p:pic>
      <p:sp>
        <p:nvSpPr>
          <p:cNvPr id="18" name="TextBox 17"/>
          <p:cNvSpPr txBox="1"/>
          <p:nvPr/>
        </p:nvSpPr>
        <p:spPr>
          <a:xfrm>
            <a:off x="3505200" y="5600700"/>
            <a:ext cx="2438400" cy="152400"/>
          </a:xfrm>
          <a:prstGeom prst="rect">
            <a:avLst/>
          </a:prstGeom>
          <a:noFill/>
        </p:spPr>
        <p:txBody>
          <a:bodyPr wrap="square" lIns="0" rIns="0" tIns="0" bIns="0" anchor="t">
            <a:spAutoFit/>
          </a:bodyPr>
          <a:lstStyle/>
          <a:p>
            <a:pPr algn="l"/>
            <a:r>
              <a:rPr sz="1000" b="1" i="0">
                <a:solidFill>
                  <a:srgbClr val="B42B2B"/>
                </a:solidFill>
                <a:latin typeface="Segoe UI"/>
              </a:rPr>
              <a:t>Withheld</a:t>
            </a:r>
          </a:p>
        </p:txBody>
      </p:sp>
      <p:sp>
        <p:nvSpPr>
          <p:cNvPr id="19" name="TextBox 18"/>
          <p:cNvSpPr txBox="1"/>
          <p:nvPr/>
        </p:nvSpPr>
        <p:spPr>
          <a:xfrm>
            <a:off x="3505200" y="5772150"/>
            <a:ext cx="2438400" cy="495300"/>
          </a:xfrm>
          <a:prstGeom prst="rect">
            <a:avLst/>
          </a:prstGeom>
          <a:noFill/>
        </p:spPr>
        <p:txBody>
          <a:bodyPr wrap="square" lIns="0" rIns="0" tIns="0" bIns="0" anchor="t">
            <a:spAutoFit/>
          </a:bodyPr>
          <a:lstStyle/>
          <a:p>
            <a:pPr algn="l">
              <a:lnSpc>
                <a:spcPct val="130000"/>
              </a:lnSpc>
            </a:pPr>
            <a:r>
              <a:rPr sz="800" b="0" i="0">
                <a:solidFill>
                  <a:srgbClr val="40505F"/>
                </a:solidFill>
                <a:latin typeface="Segoe UI"/>
              </a:rPr>
              <a:t>Quality FAIL. The classifier is never invoked, no grade is produced, and the case is routed to recapture or manual review.</a:t>
            </a:r>
          </a:p>
        </p:txBody>
      </p:sp>
      <p:sp>
        <p:nvSpPr>
          <p:cNvPr id="20" name="TextBox 19"/>
          <p:cNvSpPr txBox="1"/>
          <p:nvPr/>
        </p:nvSpPr>
        <p:spPr>
          <a:xfrm>
            <a:off x="6096000" y="3848100"/>
            <a:ext cx="5562600" cy="571500"/>
          </a:xfrm>
          <a:prstGeom prst="rect">
            <a:avLst/>
          </a:prstGeom>
          <a:noFill/>
        </p:spPr>
        <p:txBody>
          <a:bodyPr wrap="square" lIns="0" rIns="0" tIns="0" bIns="0" anchor="t">
            <a:spAutoFit/>
          </a:bodyPr>
          <a:lstStyle/>
          <a:p>
            <a:pPr algn="l">
              <a:lnSpc>
                <a:spcPct val="135000"/>
              </a:lnSpc>
            </a:pPr>
            <a:r>
              <a:rPr sz="850" b="0" i="0">
                <a:solidFill>
                  <a:srgbClr val="7C8B9A"/>
                </a:solidFill>
                <a:latin typeface="Segoe UI"/>
              </a:rPr>
              <a:t>Both images are real fundus photographs from the locked APTOS validation split, captured by the running application (results/visual_qa/).</a:t>
            </a:r>
          </a:p>
        </p:txBody>
      </p:sp>
      <p:sp>
        <p:nvSpPr>
          <p:cNvPr id="21" name="TextBox 20"/>
          <p:cNvSpPr txBox="1"/>
          <p:nvPr/>
        </p:nvSpPr>
        <p:spPr>
          <a:xfrm>
            <a:off x="6096000" y="4514850"/>
            <a:ext cx="5562600" cy="723900"/>
          </a:xfrm>
          <a:prstGeom prst="rect">
            <a:avLst/>
          </a:prstGeom>
          <a:noFill/>
        </p:spPr>
        <p:txBody>
          <a:bodyPr wrap="square" lIns="0" rIns="0" tIns="0" bIns="0" anchor="t">
            <a:spAutoFit/>
          </a:bodyPr>
          <a:lstStyle/>
          <a:p>
            <a:pPr algn="l">
              <a:lnSpc>
                <a:spcPct val="135000"/>
              </a:lnSpc>
            </a:pPr>
            <a:r>
              <a:rPr sz="850" b="0" i="0">
                <a:solidFill>
                  <a:srgbClr val="7C8B9A"/>
                </a:solidFill>
                <a:latin typeface="Segoe UI"/>
              </a:rPr>
              <a:t>Referral demand: data/analysis/simulink_resource_simulation/scenario_results.csv, row D100. Workforce constraint: Vashist et al. 2021, citing WHO 2020. Full citations on the impact slide.</a:t>
            </a:r>
          </a:p>
        </p:txBody>
      </p:sp>
      <p:sp>
        <p:nvSpPr>
          <p:cNvPr id="22" name="Rectangle 21"/>
          <p:cNvSpPr/>
          <p:nvPr/>
        </p:nvSpPr>
        <p:spPr>
          <a:xfrm>
            <a:off x="533400" y="6419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33400" y="6496050"/>
            <a:ext cx="10744200" cy="247650"/>
          </a:xfrm>
          <a:prstGeom prst="rect">
            <a:avLst/>
          </a:prstGeom>
          <a:noFill/>
        </p:spPr>
        <p:txBody>
          <a:bodyPr wrap="square" lIns="0" rIns="0" tIns="0" bIns="0" anchor="t">
            <a:spAutoFit/>
          </a:bodyPr>
          <a:lstStyle/>
          <a:p>
            <a:pPr algn="l">
              <a:lnSpc>
                <a:spcPct val="125000"/>
              </a:lnSpc>
            </a:pPr>
            <a:r>
              <a:rPr sz="750" b="0" i="0">
                <a:solidFill>
                  <a:srgbClr val="7C8B9A"/>
                </a:solidFill>
                <a:latin typeface="Segoe UI"/>
              </a:rPr>
              <a:t>Engineering prototype. Not a clinical device. No clinical validation performed. Not for diagnosis or treatment decisions.</a:t>
            </a:r>
          </a:p>
        </p:txBody>
      </p:sp>
      <p:sp>
        <p:nvSpPr>
          <p:cNvPr id="24" name="TextBox 23"/>
          <p:cNvSpPr txBox="1"/>
          <p:nvPr/>
        </p:nvSpPr>
        <p:spPr>
          <a:xfrm>
            <a:off x="11372850" y="6496050"/>
            <a:ext cx="285750" cy="133350"/>
          </a:xfrm>
          <a:prstGeom prst="rect">
            <a:avLst/>
          </a:prstGeom>
          <a:noFill/>
        </p:spPr>
        <p:txBody>
          <a:bodyPr wrap="square" lIns="0" rIns="0" tIns="0" bIns="0" anchor="t">
            <a:spAutoFit/>
          </a:bodyPr>
          <a:lstStyle/>
          <a:p>
            <a:pPr algn="l"/>
            <a:r>
              <a:rPr sz="850" b="1" i="0">
                <a:solidFill>
                  <a:srgbClr val="7C8B9A"/>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61950"/>
            <a:ext cx="11125200" cy="171450"/>
          </a:xfrm>
          <a:prstGeom prst="rect">
            <a:avLst/>
          </a:prstGeom>
          <a:noFill/>
        </p:spPr>
        <p:txBody>
          <a:bodyPr wrap="square" lIns="0" rIns="0" tIns="0" bIns="0" anchor="t">
            <a:spAutoFit/>
          </a:bodyPr>
          <a:lstStyle/>
          <a:p>
            <a:pPr algn="l"/>
            <a:r>
              <a:rPr sz="1050" b="1" i="0">
                <a:solidFill>
                  <a:srgbClr val="7C8B9A"/>
                </a:solidFill>
                <a:latin typeface="Segoe UI"/>
              </a:rPr>
              <a:t>THE WORKFLOW</a:t>
            </a:r>
          </a:p>
        </p:txBody>
      </p:sp>
      <p:sp>
        <p:nvSpPr>
          <p:cNvPr id="3" name="TextBox 2"/>
          <p:cNvSpPr txBox="1"/>
          <p:nvPr/>
        </p:nvSpPr>
        <p:spPr>
          <a:xfrm>
            <a:off x="533400" y="552450"/>
            <a:ext cx="11125200" cy="762000"/>
          </a:xfrm>
          <a:prstGeom prst="rect">
            <a:avLst/>
          </a:prstGeom>
          <a:noFill/>
        </p:spPr>
        <p:txBody>
          <a:bodyPr wrap="square" lIns="0" rIns="0" tIns="0" bIns="0" anchor="t">
            <a:spAutoFit/>
          </a:bodyPr>
          <a:lstStyle/>
          <a:p>
            <a:pPr algn="l">
              <a:lnSpc>
                <a:spcPct val="110000"/>
              </a:lnSpc>
            </a:pPr>
            <a:r>
              <a:rPr sz="2300" b="1">
                <a:solidFill>
                  <a:srgbClr val="0F2A4A"/>
                </a:solidFill>
                <a:latin typeface="Segoe UI"/>
              </a:rPr>
              <a:t>The quality gate runs </a:t>
            </a:r>
            <a:r>
              <a:rPr sz="2300" b="0">
                <a:solidFill>
                  <a:srgbClr val="7C8B9A"/>
                </a:solidFill>
                <a:latin typeface="Segoe UI"/>
              </a:rPr>
              <a:t>before</a:t>
            </a:r>
            <a:r>
              <a:rPr sz="2300" b="1">
                <a:solidFill>
                  <a:srgbClr val="0F2A4A"/>
                </a:solidFill>
                <a:latin typeface="Segoe UI"/>
              </a:rPr>
              <a:t> the AI, not after it</a:t>
            </a:r>
          </a:p>
        </p:txBody>
      </p:sp>
      <p:sp>
        <p:nvSpPr>
          <p:cNvPr id="4" name="Rectangle 3"/>
          <p:cNvSpPr/>
          <p:nvPr/>
        </p:nvSpPr>
        <p:spPr>
          <a:xfrm>
            <a:off x="533400" y="13525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3400" y="1543050"/>
            <a:ext cx="11125200" cy="255588"/>
          </a:xfrm>
          <a:prstGeom prst="rect">
            <a:avLst/>
          </a:prstGeom>
          <a:noFill/>
        </p:spPr>
        <p:txBody>
          <a:bodyPr wrap="square" lIns="0" rIns="0" tIns="0" bIns="0" anchor="t">
            <a:spAutoFit/>
          </a:bodyPr>
          <a:lstStyle/>
          <a:p>
            <a:pPr algn="l">
              <a:lnSpc>
                <a:spcPct val="140000"/>
              </a:lnSpc>
            </a:pPr>
            <a:r>
              <a:rPr sz="1150" b="0" i="0">
                <a:solidFill>
                  <a:srgbClr val="40505F"/>
                </a:solidFill>
                <a:latin typeface="Segoe UI"/>
              </a:rPr>
              <a:t>This ordering is the whole design. A screening system that grades every image it is handed has no way to say “I don't know”.</a:t>
            </a:r>
          </a:p>
        </p:txBody>
      </p:sp>
      <p:sp>
        <p:nvSpPr>
          <p:cNvPr id="6" name="Rectangle 5"/>
          <p:cNvSpPr/>
          <p:nvPr/>
        </p:nvSpPr>
        <p:spPr>
          <a:xfrm>
            <a:off x="533400" y="1809750"/>
            <a:ext cx="1771650" cy="7048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7700" y="1943100"/>
            <a:ext cx="1543050" cy="152400"/>
          </a:xfrm>
          <a:prstGeom prst="rect">
            <a:avLst/>
          </a:prstGeom>
          <a:noFill/>
        </p:spPr>
        <p:txBody>
          <a:bodyPr wrap="square" lIns="0" rIns="0" tIns="0" bIns="0" anchor="t">
            <a:spAutoFit/>
          </a:bodyPr>
          <a:lstStyle/>
          <a:p>
            <a:pPr algn="l"/>
            <a:r>
              <a:rPr sz="1000" b="1" i="0">
                <a:solidFill>
                  <a:srgbClr val="0F2A4A"/>
                </a:solidFill>
                <a:latin typeface="Segoe UI"/>
              </a:rPr>
              <a:t>IMAGE</a:t>
            </a:r>
          </a:p>
        </p:txBody>
      </p:sp>
      <p:sp>
        <p:nvSpPr>
          <p:cNvPr id="8" name="TextBox 7"/>
          <p:cNvSpPr txBox="1"/>
          <p:nvPr/>
        </p:nvSpPr>
        <p:spPr>
          <a:xfrm>
            <a:off x="647700" y="2133600"/>
            <a:ext cx="1543050" cy="34290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fundus photograph</a:t>
            </a:r>
          </a:p>
        </p:txBody>
      </p:sp>
      <p:sp>
        <p:nvSpPr>
          <p:cNvPr id="9" name="TextBox 8"/>
          <p:cNvSpPr txBox="1"/>
          <p:nvPr/>
        </p:nvSpPr>
        <p:spPr>
          <a:xfrm>
            <a:off x="2305050" y="2057400"/>
            <a:ext cx="95250" cy="190500"/>
          </a:xfrm>
          <a:prstGeom prst="rect">
            <a:avLst/>
          </a:prstGeom>
          <a:noFill/>
        </p:spPr>
        <p:txBody>
          <a:bodyPr wrap="square" lIns="0" rIns="0" tIns="0" bIns="0" anchor="t">
            <a:spAutoFit/>
          </a:bodyPr>
          <a:lstStyle/>
          <a:p>
            <a:pPr algn="l"/>
            <a:r>
              <a:rPr sz="1200" b="1" i="0">
                <a:solidFill>
                  <a:srgbClr val="7C8B9A"/>
                </a:solidFill>
                <a:latin typeface="Segoe UI"/>
              </a:rPr>
              <a:t>&gt;</a:t>
            </a:r>
          </a:p>
        </p:txBody>
      </p:sp>
      <p:sp>
        <p:nvSpPr>
          <p:cNvPr id="10" name="Rectangle 9"/>
          <p:cNvSpPr/>
          <p:nvPr/>
        </p:nvSpPr>
        <p:spPr>
          <a:xfrm>
            <a:off x="2400300" y="1809750"/>
            <a:ext cx="1771650" cy="7048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14600" y="1943100"/>
            <a:ext cx="1543050" cy="152400"/>
          </a:xfrm>
          <a:prstGeom prst="rect">
            <a:avLst/>
          </a:prstGeom>
          <a:noFill/>
        </p:spPr>
        <p:txBody>
          <a:bodyPr wrap="square" lIns="0" rIns="0" tIns="0" bIns="0" anchor="t">
            <a:spAutoFit/>
          </a:bodyPr>
          <a:lstStyle/>
          <a:p>
            <a:pPr algn="l"/>
            <a:r>
              <a:rPr sz="1000" b="1" i="0">
                <a:solidFill>
                  <a:srgbClr val="0F2A4A"/>
                </a:solidFill>
                <a:latin typeface="Segoe UI"/>
              </a:rPr>
              <a:t>QUALITY</a:t>
            </a:r>
          </a:p>
        </p:txBody>
      </p:sp>
      <p:sp>
        <p:nvSpPr>
          <p:cNvPr id="12" name="TextBox 11"/>
          <p:cNvSpPr txBox="1"/>
          <p:nvPr/>
        </p:nvSpPr>
        <p:spPr>
          <a:xfrm>
            <a:off x="2514600" y="2133600"/>
            <a:ext cx="1543050" cy="34290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focus * brightness * foreground fraction</a:t>
            </a:r>
          </a:p>
        </p:txBody>
      </p:sp>
      <p:sp>
        <p:nvSpPr>
          <p:cNvPr id="13" name="TextBox 12"/>
          <p:cNvSpPr txBox="1"/>
          <p:nvPr/>
        </p:nvSpPr>
        <p:spPr>
          <a:xfrm>
            <a:off x="4171950" y="2057400"/>
            <a:ext cx="95250" cy="190500"/>
          </a:xfrm>
          <a:prstGeom prst="rect">
            <a:avLst/>
          </a:prstGeom>
          <a:noFill/>
        </p:spPr>
        <p:txBody>
          <a:bodyPr wrap="square" lIns="0" rIns="0" tIns="0" bIns="0" anchor="t">
            <a:spAutoFit/>
          </a:bodyPr>
          <a:lstStyle/>
          <a:p>
            <a:pPr algn="l"/>
            <a:r>
              <a:rPr sz="1200" b="1" i="0">
                <a:solidFill>
                  <a:srgbClr val="7C8B9A"/>
                </a:solidFill>
                <a:latin typeface="Segoe UI"/>
              </a:rPr>
              <a:t>&gt;</a:t>
            </a:r>
          </a:p>
        </p:txBody>
      </p:sp>
      <p:sp>
        <p:nvSpPr>
          <p:cNvPr id="14" name="Rectangle 13"/>
          <p:cNvSpPr/>
          <p:nvPr/>
        </p:nvSpPr>
        <p:spPr>
          <a:xfrm>
            <a:off x="4267200" y="1809750"/>
            <a:ext cx="1771650" cy="7048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81500" y="1943100"/>
            <a:ext cx="1543050" cy="152400"/>
          </a:xfrm>
          <a:prstGeom prst="rect">
            <a:avLst/>
          </a:prstGeom>
          <a:noFill/>
        </p:spPr>
        <p:txBody>
          <a:bodyPr wrap="square" lIns="0" rIns="0" tIns="0" bIns="0" anchor="t">
            <a:spAutoFit/>
          </a:bodyPr>
          <a:lstStyle/>
          <a:p>
            <a:pPr algn="l"/>
            <a:r>
              <a:rPr sz="1000" b="1" i="0">
                <a:solidFill>
                  <a:srgbClr val="0F2A4A"/>
                </a:solidFill>
                <a:latin typeface="Segoe UI"/>
              </a:rPr>
              <a:t>AI</a:t>
            </a:r>
          </a:p>
        </p:txBody>
      </p:sp>
      <p:sp>
        <p:nvSpPr>
          <p:cNvPr id="16" name="TextBox 15"/>
          <p:cNvSpPr txBox="1"/>
          <p:nvPr/>
        </p:nvSpPr>
        <p:spPr>
          <a:xfrm>
            <a:off x="4381500" y="2133600"/>
            <a:ext cx="1543050" cy="34290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5-class grade + referable score</a:t>
            </a:r>
          </a:p>
        </p:txBody>
      </p:sp>
      <p:sp>
        <p:nvSpPr>
          <p:cNvPr id="17" name="TextBox 16"/>
          <p:cNvSpPr txBox="1"/>
          <p:nvPr/>
        </p:nvSpPr>
        <p:spPr>
          <a:xfrm>
            <a:off x="6038850" y="2057400"/>
            <a:ext cx="95250" cy="190500"/>
          </a:xfrm>
          <a:prstGeom prst="rect">
            <a:avLst/>
          </a:prstGeom>
          <a:noFill/>
        </p:spPr>
        <p:txBody>
          <a:bodyPr wrap="square" lIns="0" rIns="0" tIns="0" bIns="0" anchor="t">
            <a:spAutoFit/>
          </a:bodyPr>
          <a:lstStyle/>
          <a:p>
            <a:pPr algn="l"/>
            <a:r>
              <a:rPr sz="1200" b="1" i="0">
                <a:solidFill>
                  <a:srgbClr val="7C8B9A"/>
                </a:solidFill>
                <a:latin typeface="Segoe UI"/>
              </a:rPr>
              <a:t>&gt;</a:t>
            </a:r>
          </a:p>
        </p:txBody>
      </p:sp>
      <p:sp>
        <p:nvSpPr>
          <p:cNvPr id="18" name="Rectangle 17"/>
          <p:cNvSpPr/>
          <p:nvPr/>
        </p:nvSpPr>
        <p:spPr>
          <a:xfrm>
            <a:off x="6134100" y="1809750"/>
            <a:ext cx="1771650" cy="7048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248400" y="1943100"/>
            <a:ext cx="1543050" cy="152400"/>
          </a:xfrm>
          <a:prstGeom prst="rect">
            <a:avLst/>
          </a:prstGeom>
          <a:noFill/>
        </p:spPr>
        <p:txBody>
          <a:bodyPr wrap="square" lIns="0" rIns="0" tIns="0" bIns="0" anchor="t">
            <a:spAutoFit/>
          </a:bodyPr>
          <a:lstStyle/>
          <a:p>
            <a:pPr algn="l"/>
            <a:r>
              <a:rPr sz="1000" b="1" i="0">
                <a:solidFill>
                  <a:srgbClr val="0F2A4A"/>
                </a:solidFill>
                <a:latin typeface="Segoe UI"/>
              </a:rPr>
              <a:t>REFERRAL</a:t>
            </a:r>
          </a:p>
        </p:txBody>
      </p:sp>
      <p:sp>
        <p:nvSpPr>
          <p:cNvPr id="20" name="TextBox 19"/>
          <p:cNvSpPr txBox="1"/>
          <p:nvPr/>
        </p:nvSpPr>
        <p:spPr>
          <a:xfrm>
            <a:off x="6248400" y="2133600"/>
            <a:ext cx="1543050" cy="34290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referable rule locked at 0.60</a:t>
            </a:r>
          </a:p>
        </p:txBody>
      </p:sp>
      <p:sp>
        <p:nvSpPr>
          <p:cNvPr id="21" name="TextBox 20"/>
          <p:cNvSpPr txBox="1"/>
          <p:nvPr/>
        </p:nvSpPr>
        <p:spPr>
          <a:xfrm>
            <a:off x="7905750" y="2057400"/>
            <a:ext cx="95250" cy="190500"/>
          </a:xfrm>
          <a:prstGeom prst="rect">
            <a:avLst/>
          </a:prstGeom>
          <a:noFill/>
        </p:spPr>
        <p:txBody>
          <a:bodyPr wrap="square" lIns="0" rIns="0" tIns="0" bIns="0" anchor="t">
            <a:spAutoFit/>
          </a:bodyPr>
          <a:lstStyle/>
          <a:p>
            <a:pPr algn="l"/>
            <a:r>
              <a:rPr sz="1200" b="1" i="0">
                <a:solidFill>
                  <a:srgbClr val="7C8B9A"/>
                </a:solidFill>
                <a:latin typeface="Segoe UI"/>
              </a:rPr>
              <a:t>&gt;</a:t>
            </a:r>
          </a:p>
        </p:txBody>
      </p:sp>
      <p:sp>
        <p:nvSpPr>
          <p:cNvPr id="22" name="Rectangle 21"/>
          <p:cNvSpPr/>
          <p:nvPr/>
        </p:nvSpPr>
        <p:spPr>
          <a:xfrm>
            <a:off x="8001000" y="1809750"/>
            <a:ext cx="1771650" cy="7048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115300" y="1943100"/>
            <a:ext cx="1543050" cy="152400"/>
          </a:xfrm>
          <a:prstGeom prst="rect">
            <a:avLst/>
          </a:prstGeom>
          <a:noFill/>
        </p:spPr>
        <p:txBody>
          <a:bodyPr wrap="square" lIns="0" rIns="0" tIns="0" bIns="0" anchor="t">
            <a:spAutoFit/>
          </a:bodyPr>
          <a:lstStyle/>
          <a:p>
            <a:pPr algn="l"/>
            <a:r>
              <a:rPr sz="1000" b="1" i="0">
                <a:solidFill>
                  <a:srgbClr val="0F2A4A"/>
                </a:solidFill>
                <a:latin typeface="Segoe UI"/>
              </a:rPr>
              <a:t>EVIDENCE</a:t>
            </a:r>
          </a:p>
        </p:txBody>
      </p:sp>
      <p:sp>
        <p:nvSpPr>
          <p:cNvPr id="24" name="TextBox 23"/>
          <p:cNvSpPr txBox="1"/>
          <p:nvPr/>
        </p:nvSpPr>
        <p:spPr>
          <a:xfrm>
            <a:off x="8115300" y="2133600"/>
            <a:ext cx="1543050" cy="34290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model attention * lesion candidates</a:t>
            </a:r>
          </a:p>
        </p:txBody>
      </p:sp>
      <p:sp>
        <p:nvSpPr>
          <p:cNvPr id="25" name="TextBox 24"/>
          <p:cNvSpPr txBox="1"/>
          <p:nvPr/>
        </p:nvSpPr>
        <p:spPr>
          <a:xfrm>
            <a:off x="9772650" y="2057400"/>
            <a:ext cx="95250" cy="190500"/>
          </a:xfrm>
          <a:prstGeom prst="rect">
            <a:avLst/>
          </a:prstGeom>
          <a:noFill/>
        </p:spPr>
        <p:txBody>
          <a:bodyPr wrap="square" lIns="0" rIns="0" tIns="0" bIns="0" anchor="t">
            <a:spAutoFit/>
          </a:bodyPr>
          <a:lstStyle/>
          <a:p>
            <a:pPr algn="l"/>
            <a:r>
              <a:rPr sz="1200" b="1" i="0">
                <a:solidFill>
                  <a:srgbClr val="7C8B9A"/>
                </a:solidFill>
                <a:latin typeface="Segoe UI"/>
              </a:rPr>
              <a:t>&gt;</a:t>
            </a:r>
          </a:p>
        </p:txBody>
      </p:sp>
      <p:sp>
        <p:nvSpPr>
          <p:cNvPr id="26" name="Rectangle 25"/>
          <p:cNvSpPr/>
          <p:nvPr/>
        </p:nvSpPr>
        <p:spPr>
          <a:xfrm>
            <a:off x="9867900" y="1809750"/>
            <a:ext cx="1771650" cy="7048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982200" y="1943100"/>
            <a:ext cx="1543050" cy="152400"/>
          </a:xfrm>
          <a:prstGeom prst="rect">
            <a:avLst/>
          </a:prstGeom>
          <a:noFill/>
        </p:spPr>
        <p:txBody>
          <a:bodyPr wrap="square" lIns="0" rIns="0" tIns="0" bIns="0" anchor="t">
            <a:spAutoFit/>
          </a:bodyPr>
          <a:lstStyle/>
          <a:p>
            <a:pPr algn="l"/>
            <a:r>
              <a:rPr sz="1000" b="1" i="0">
                <a:solidFill>
                  <a:srgbClr val="10656D"/>
                </a:solidFill>
                <a:latin typeface="Segoe UI"/>
              </a:rPr>
              <a:t>HUMAN</a:t>
            </a:r>
          </a:p>
        </p:txBody>
      </p:sp>
      <p:sp>
        <p:nvSpPr>
          <p:cNvPr id="28" name="TextBox 27"/>
          <p:cNvSpPr txBox="1"/>
          <p:nvPr/>
        </p:nvSpPr>
        <p:spPr>
          <a:xfrm>
            <a:off x="9982200" y="2133600"/>
            <a:ext cx="1543050" cy="34290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specialist review</a:t>
            </a:r>
          </a:p>
        </p:txBody>
      </p:sp>
      <p:sp>
        <p:nvSpPr>
          <p:cNvPr id="29" name="Rectangle 28"/>
          <p:cNvSpPr/>
          <p:nvPr/>
        </p:nvSpPr>
        <p:spPr>
          <a:xfrm>
            <a:off x="533400" y="2647950"/>
            <a:ext cx="11125200" cy="438150"/>
          </a:xfrm>
          <a:prstGeom prst="rect">
            <a:avLst/>
          </a:prstGeom>
          <a:solidFill>
            <a:srgbClr val="FDF2F2"/>
          </a:solidFill>
          <a:ln w="12700">
            <a:solidFill>
              <a:srgbClr val="E8C8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66750" y="2762250"/>
            <a:ext cx="10858500" cy="285750"/>
          </a:xfrm>
          <a:prstGeom prst="rect">
            <a:avLst/>
          </a:prstGeom>
          <a:noFill/>
        </p:spPr>
        <p:txBody>
          <a:bodyPr wrap="square" lIns="0" rIns="0" tIns="0" bIns="0" anchor="t">
            <a:spAutoFit/>
          </a:bodyPr>
          <a:lstStyle/>
          <a:p>
            <a:pPr algn="l">
              <a:lnSpc>
                <a:spcPct val="135000"/>
              </a:lnSpc>
            </a:pPr>
            <a:r>
              <a:rPr sz="1000" b="1">
                <a:solidFill>
                  <a:srgbClr val="B42B2B"/>
                </a:solidFill>
                <a:latin typeface="Segoe UI"/>
              </a:rPr>
              <a:t>WITHHELD</a:t>
            </a:r>
            <a:r>
              <a:rPr sz="1000" b="0">
                <a:solidFill>
                  <a:srgbClr val="40505F"/>
                </a:solidFill>
                <a:latin typeface="Segoe UI"/>
              </a:rPr>
              <a:t>   AI never executed * grade stays NaN. RECAPTURE / MANUAL are the only safe outcomes for a FAIL image.</a:t>
            </a:r>
          </a:p>
        </p:txBody>
      </p:sp>
      <p:sp>
        <p:nvSpPr>
          <p:cNvPr id="31" name="Rectangle 30"/>
          <p:cNvSpPr/>
          <p:nvPr/>
        </p:nvSpPr>
        <p:spPr>
          <a:xfrm>
            <a:off x="533400" y="3219450"/>
            <a:ext cx="3581400" cy="8763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33400" y="3219450"/>
            <a:ext cx="28575" cy="8763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66750" y="3324225"/>
            <a:ext cx="3333750" cy="171450"/>
          </a:xfrm>
          <a:prstGeom prst="rect">
            <a:avLst/>
          </a:prstGeom>
          <a:noFill/>
        </p:spPr>
        <p:txBody>
          <a:bodyPr wrap="square" lIns="0" rIns="0" tIns="0" bIns="0" anchor="t">
            <a:spAutoFit/>
          </a:bodyPr>
          <a:lstStyle/>
          <a:p>
            <a:pPr algn="l"/>
            <a:r>
              <a:rPr sz="950" b="1" i="0">
                <a:solidFill>
                  <a:srgbClr val="0F2A4A"/>
                </a:solidFill>
                <a:latin typeface="Segoe UI"/>
              </a:rPr>
              <a:t>Quality FAIL is a hard gate, not a display setting.</a:t>
            </a:r>
          </a:p>
        </p:txBody>
      </p:sp>
      <p:sp>
        <p:nvSpPr>
          <p:cNvPr id="34" name="TextBox 33"/>
          <p:cNvSpPr txBox="1"/>
          <p:nvPr/>
        </p:nvSpPr>
        <p:spPr>
          <a:xfrm>
            <a:off x="666750" y="3524250"/>
            <a:ext cx="3333750" cy="476250"/>
          </a:xfrm>
          <a:prstGeom prst="rect">
            <a:avLst/>
          </a:prstGeom>
          <a:noFill/>
        </p:spPr>
        <p:txBody>
          <a:bodyPr wrap="square" lIns="0" rIns="0" tIns="0" bIns="0" anchor="t">
            <a:spAutoFit/>
          </a:bodyPr>
          <a:lstStyle/>
          <a:p>
            <a:pPr algn="l">
              <a:lnSpc>
                <a:spcPct val="135000"/>
              </a:lnSpc>
            </a:pPr>
            <a:r>
              <a:rPr sz="850" b="0" i="0">
                <a:solidFill>
                  <a:srgbClr val="40505F"/>
                </a:solidFill>
                <a:latin typeface="Segoe UI"/>
              </a:rPr>
              <a:t>The classifier is never invoked, no Grad-CAM is computed, and the output carries an explicit withheld state rather than a silent blank.</a:t>
            </a:r>
          </a:p>
        </p:txBody>
      </p:sp>
      <p:sp>
        <p:nvSpPr>
          <p:cNvPr id="35" name="Rectangle 34"/>
          <p:cNvSpPr/>
          <p:nvPr/>
        </p:nvSpPr>
        <p:spPr>
          <a:xfrm>
            <a:off x="4305300" y="3219450"/>
            <a:ext cx="3581400" cy="8763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305300" y="3219450"/>
            <a:ext cx="28575" cy="8763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438650" y="3324225"/>
            <a:ext cx="3333750" cy="171450"/>
          </a:xfrm>
          <a:prstGeom prst="rect">
            <a:avLst/>
          </a:prstGeom>
          <a:noFill/>
        </p:spPr>
        <p:txBody>
          <a:bodyPr wrap="square" lIns="0" rIns="0" tIns="0" bIns="0" anchor="t">
            <a:spAutoFit/>
          </a:bodyPr>
          <a:lstStyle/>
          <a:p>
            <a:pPr algn="l"/>
            <a:r>
              <a:rPr sz="950" b="1" i="0">
                <a:solidFill>
                  <a:srgbClr val="0F2A4A"/>
                </a:solidFill>
                <a:latin typeface="Segoe UI"/>
              </a:rPr>
              <a:t>Referral is a locked rule.</a:t>
            </a:r>
          </a:p>
        </p:txBody>
      </p:sp>
      <p:sp>
        <p:nvSpPr>
          <p:cNvPr id="38" name="TextBox 37"/>
          <p:cNvSpPr txBox="1"/>
          <p:nvPr/>
        </p:nvSpPr>
        <p:spPr>
          <a:xfrm>
            <a:off x="4438650" y="3524250"/>
            <a:ext cx="3333750" cy="476250"/>
          </a:xfrm>
          <a:prstGeom prst="rect">
            <a:avLst/>
          </a:prstGeom>
          <a:noFill/>
        </p:spPr>
        <p:txBody>
          <a:bodyPr wrap="square" lIns="0" rIns="0" tIns="0" bIns="0" anchor="t">
            <a:spAutoFit/>
          </a:bodyPr>
          <a:lstStyle/>
          <a:p>
            <a:pPr algn="l">
              <a:lnSpc>
                <a:spcPct val="135000"/>
              </a:lnSpc>
            </a:pPr>
            <a:r>
              <a:rPr sz="850" b="0" i="0">
                <a:solidFill>
                  <a:srgbClr val="40505F"/>
                </a:solidFill>
                <a:latin typeface="Segoe UI"/>
              </a:rPr>
              <a:t>Referable is P(referable) &gt;= 0.60. The threshold is provenance-pinned and was not retuned.</a:t>
            </a:r>
          </a:p>
        </p:txBody>
      </p:sp>
      <p:sp>
        <p:nvSpPr>
          <p:cNvPr id="39" name="Rectangle 38"/>
          <p:cNvSpPr/>
          <p:nvPr/>
        </p:nvSpPr>
        <p:spPr>
          <a:xfrm>
            <a:off x="8077200" y="3219450"/>
            <a:ext cx="3581400" cy="8763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077200" y="3219450"/>
            <a:ext cx="28575" cy="8763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10550" y="3324225"/>
            <a:ext cx="3333750" cy="171450"/>
          </a:xfrm>
          <a:prstGeom prst="rect">
            <a:avLst/>
          </a:prstGeom>
          <a:noFill/>
        </p:spPr>
        <p:txBody>
          <a:bodyPr wrap="square" lIns="0" rIns="0" tIns="0" bIns="0" anchor="t">
            <a:spAutoFit/>
          </a:bodyPr>
          <a:lstStyle/>
          <a:p>
            <a:pPr algn="l"/>
            <a:r>
              <a:rPr sz="950" b="1" i="0">
                <a:solidFill>
                  <a:srgbClr val="0F2A4A"/>
                </a:solidFill>
                <a:latin typeface="Segoe UI"/>
              </a:rPr>
              <a:t>Uncertainty is routed, not averaged away.</a:t>
            </a:r>
          </a:p>
        </p:txBody>
      </p:sp>
      <p:sp>
        <p:nvSpPr>
          <p:cNvPr id="42" name="TextBox 41"/>
          <p:cNvSpPr txBox="1"/>
          <p:nvPr/>
        </p:nvSpPr>
        <p:spPr>
          <a:xfrm>
            <a:off x="8210550" y="3524250"/>
            <a:ext cx="3333750" cy="476250"/>
          </a:xfrm>
          <a:prstGeom prst="rect">
            <a:avLst/>
          </a:prstGeom>
          <a:noFill/>
        </p:spPr>
        <p:txBody>
          <a:bodyPr wrap="square" lIns="0" rIns="0" tIns="0" bIns="0" anchor="t">
            <a:spAutoFit/>
          </a:bodyPr>
          <a:lstStyle/>
          <a:p>
            <a:pPr algn="l">
              <a:lnSpc>
                <a:spcPct val="135000"/>
              </a:lnSpc>
            </a:pPr>
            <a:r>
              <a:rPr sz="850" b="0" i="0">
                <a:solidFill>
                  <a:srgbClr val="40505F"/>
                </a:solidFill>
                <a:latin typeface="Segoe UI"/>
              </a:rPr>
              <a:t>The cascade router sends borderline cases to REVIEW and the least confident to ABSTAIN.</a:t>
            </a:r>
          </a:p>
        </p:txBody>
      </p:sp>
      <p:pic>
        <p:nvPicPr>
          <p:cNvPr id="43" name="Picture 42" descr="05_report_preview.png"/>
          <p:cNvPicPr>
            <a:picLocks noChangeAspect="1"/>
          </p:cNvPicPr>
          <p:nvPr/>
        </p:nvPicPr>
        <p:blipFill>
          <a:blip r:embed="rId2"/>
          <a:stretch>
            <a:fillRect/>
          </a:stretch>
        </p:blipFill>
        <p:spPr>
          <a:xfrm>
            <a:off x="533400" y="4229100"/>
            <a:ext cx="2857500" cy="1905000"/>
          </a:xfrm>
          <a:prstGeom prst="rect">
            <a:avLst/>
          </a:prstGeom>
        </p:spPr>
      </p:pic>
      <p:sp>
        <p:nvSpPr>
          <p:cNvPr id="44" name="TextBox 43"/>
          <p:cNvSpPr txBox="1"/>
          <p:nvPr/>
        </p:nvSpPr>
        <p:spPr>
          <a:xfrm>
            <a:off x="3810000" y="4267200"/>
            <a:ext cx="7848600" cy="762000"/>
          </a:xfrm>
          <a:prstGeom prst="rect">
            <a:avLst/>
          </a:prstGeom>
          <a:noFill/>
        </p:spPr>
        <p:txBody>
          <a:bodyPr wrap="square" lIns="0" rIns="0" tIns="0" bIns="0" anchor="t">
            <a:spAutoFit/>
          </a:bodyPr>
          <a:lstStyle/>
          <a:p>
            <a:pPr algn="l">
              <a:lnSpc>
                <a:spcPct val="140000"/>
              </a:lnSpc>
            </a:pPr>
            <a:r>
              <a:rPr sz="1000" b="0" i="0">
                <a:solidFill>
                  <a:srgbClr val="40505F"/>
                </a:solidFill>
                <a:latin typeface="Segoe UI"/>
              </a:rPr>
              <a:t>The branded A4 report is a real artifact written to disk from the same result struct that drives the screen - seven sections including the non-clinical disclaimer.</a:t>
            </a:r>
          </a:p>
        </p:txBody>
      </p:sp>
      <p:sp>
        <p:nvSpPr>
          <p:cNvPr id="45" name="TextBox 44"/>
          <p:cNvSpPr txBox="1"/>
          <p:nvPr/>
        </p:nvSpPr>
        <p:spPr>
          <a:xfrm>
            <a:off x="3810000" y="5086350"/>
            <a:ext cx="7848600" cy="952500"/>
          </a:xfrm>
          <a:prstGeom prst="rect">
            <a:avLst/>
          </a:prstGeom>
          <a:noFill/>
        </p:spPr>
        <p:txBody>
          <a:bodyPr wrap="square" lIns="0" rIns="0" tIns="0" bIns="0" anchor="t">
            <a:spAutoFit/>
          </a:bodyPr>
          <a:lstStyle/>
          <a:p>
            <a:pPr algn="l">
              <a:lnSpc>
                <a:spcPct val="140000"/>
              </a:lnSpc>
            </a:pPr>
            <a:r>
              <a:rPr sz="900" b="0" i="0">
                <a:solidFill>
                  <a:srgbClr val="7C8B9A"/>
                </a:solidFill>
                <a:latin typeface="Segoe UI"/>
              </a:rPr>
              <a:t>In the shipped path the model input is the raw resized image. Enhancement is a display aid only, because the A/B experiment showed enhancement measurably hurt grading (docs/task-tracker.md Task 9B).</a:t>
            </a:r>
          </a:p>
        </p:txBody>
      </p:sp>
      <p:sp>
        <p:nvSpPr>
          <p:cNvPr id="46" name="Rectangle 45"/>
          <p:cNvSpPr/>
          <p:nvPr/>
        </p:nvSpPr>
        <p:spPr>
          <a:xfrm>
            <a:off x="533400" y="6419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33400" y="6496050"/>
            <a:ext cx="10744200" cy="247650"/>
          </a:xfrm>
          <a:prstGeom prst="rect">
            <a:avLst/>
          </a:prstGeom>
          <a:noFill/>
        </p:spPr>
        <p:txBody>
          <a:bodyPr wrap="square" lIns="0" rIns="0" tIns="0" bIns="0" anchor="t">
            <a:spAutoFit/>
          </a:bodyPr>
          <a:lstStyle/>
          <a:p>
            <a:pPr algn="l">
              <a:lnSpc>
                <a:spcPct val="125000"/>
              </a:lnSpc>
            </a:pPr>
            <a:r>
              <a:rPr sz="750" b="0" i="0">
                <a:solidFill>
                  <a:srgbClr val="7C8B9A"/>
                </a:solidFill>
                <a:latin typeface="Segoe UI"/>
              </a:rPr>
              <a:t>Engineering prototype. Not a clinical device. No clinical validation performed. Not for diagnosis or treatment decisions.</a:t>
            </a:r>
          </a:p>
        </p:txBody>
      </p:sp>
      <p:sp>
        <p:nvSpPr>
          <p:cNvPr id="48" name="TextBox 47"/>
          <p:cNvSpPr txBox="1"/>
          <p:nvPr/>
        </p:nvSpPr>
        <p:spPr>
          <a:xfrm>
            <a:off x="11372850" y="6496050"/>
            <a:ext cx="285750" cy="133350"/>
          </a:xfrm>
          <a:prstGeom prst="rect">
            <a:avLst/>
          </a:prstGeom>
          <a:noFill/>
        </p:spPr>
        <p:txBody>
          <a:bodyPr wrap="square" lIns="0" rIns="0" tIns="0" bIns="0" anchor="t">
            <a:spAutoFit/>
          </a:bodyPr>
          <a:lstStyle/>
          <a:p>
            <a:pPr algn="l"/>
            <a:r>
              <a:rPr sz="850" b="1" i="0">
                <a:solidFill>
                  <a:srgbClr val="7C8B9A"/>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61950"/>
            <a:ext cx="11125200" cy="171450"/>
          </a:xfrm>
          <a:prstGeom prst="rect">
            <a:avLst/>
          </a:prstGeom>
          <a:noFill/>
        </p:spPr>
        <p:txBody>
          <a:bodyPr wrap="square" lIns="0" rIns="0" tIns="0" bIns="0" anchor="t">
            <a:spAutoFit/>
          </a:bodyPr>
          <a:lstStyle/>
          <a:p>
            <a:pPr algn="l"/>
            <a:r>
              <a:rPr sz="1050" b="1" i="0">
                <a:solidFill>
                  <a:srgbClr val="7C8B9A"/>
                </a:solidFill>
                <a:latin typeface="Segoe UI"/>
              </a:rPr>
              <a:t>FEASIBILITY</a:t>
            </a:r>
          </a:p>
        </p:txBody>
      </p:sp>
      <p:sp>
        <p:nvSpPr>
          <p:cNvPr id="3" name="TextBox 2"/>
          <p:cNvSpPr txBox="1"/>
          <p:nvPr/>
        </p:nvSpPr>
        <p:spPr>
          <a:xfrm>
            <a:off x="533400" y="552450"/>
            <a:ext cx="11125200" cy="762000"/>
          </a:xfrm>
          <a:prstGeom prst="rect">
            <a:avLst/>
          </a:prstGeom>
          <a:noFill/>
        </p:spPr>
        <p:txBody>
          <a:bodyPr wrap="square" lIns="0" rIns="0" tIns="0" bIns="0" anchor="t">
            <a:spAutoFit/>
          </a:bodyPr>
          <a:lstStyle/>
          <a:p>
            <a:pPr algn="l">
              <a:lnSpc>
                <a:spcPct val="110000"/>
              </a:lnSpc>
            </a:pPr>
            <a:r>
              <a:rPr sz="2300" b="1">
                <a:solidFill>
                  <a:srgbClr val="0F2A4A"/>
                </a:solidFill>
                <a:latin typeface="Segoe UI"/>
              </a:rPr>
              <a:t>What is built and measured, </a:t>
            </a:r>
            <a:r>
              <a:rPr sz="2300" b="0">
                <a:solidFill>
                  <a:srgbClr val="7C8B9A"/>
                </a:solidFill>
                <a:latin typeface="Segoe UI"/>
              </a:rPr>
              <a:t>and what is not</a:t>
            </a:r>
          </a:p>
        </p:txBody>
      </p:sp>
      <p:sp>
        <p:nvSpPr>
          <p:cNvPr id="4" name="Rectangle 3"/>
          <p:cNvSpPr/>
          <p:nvPr/>
        </p:nvSpPr>
        <p:spPr>
          <a:xfrm>
            <a:off x="533400" y="13525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3400" y="1543050"/>
            <a:ext cx="11125200" cy="244475"/>
          </a:xfrm>
          <a:prstGeom prst="rect">
            <a:avLst/>
          </a:prstGeom>
          <a:noFill/>
        </p:spPr>
        <p:txBody>
          <a:bodyPr wrap="square" lIns="0" rIns="0" tIns="0" bIns="0" anchor="t">
            <a:spAutoFit/>
          </a:bodyPr>
          <a:lstStyle/>
          <a:p>
            <a:pPr algn="l">
              <a:lnSpc>
                <a:spcPct val="140000"/>
              </a:lnSpc>
            </a:pPr>
            <a:r>
              <a:rPr sz="1100" b="0" i="0">
                <a:solidFill>
                  <a:srgbClr val="40505F"/>
                </a:solidFill>
                <a:latin typeface="Segoe UI"/>
              </a:rPr>
              <a:t>Built: running, measured, verified.   Planned / blocked: named blocker, named owner - not hidden, not silently dropped.</a:t>
            </a:r>
          </a:p>
        </p:txBody>
      </p:sp>
      <p:sp>
        <p:nvSpPr>
          <p:cNvPr id="6" name="TextBox 5"/>
          <p:cNvSpPr txBox="1"/>
          <p:nvPr/>
        </p:nvSpPr>
        <p:spPr>
          <a:xfrm>
            <a:off x="533400" y="1885950"/>
            <a:ext cx="5715000" cy="190500"/>
          </a:xfrm>
          <a:prstGeom prst="rect">
            <a:avLst/>
          </a:prstGeom>
          <a:noFill/>
        </p:spPr>
        <p:txBody>
          <a:bodyPr wrap="square" lIns="0" rIns="0" tIns="0" bIns="0" anchor="t">
            <a:spAutoFit/>
          </a:bodyPr>
          <a:lstStyle/>
          <a:p>
            <a:pPr algn="l"/>
            <a:r>
              <a:rPr sz="1000" b="1" i="0">
                <a:solidFill>
                  <a:srgbClr val="10656D"/>
                </a:solidFill>
                <a:latin typeface="Segoe UI"/>
              </a:rPr>
              <a:t>BUILT</a:t>
            </a:r>
          </a:p>
        </p:txBody>
      </p:sp>
      <p:sp>
        <p:nvSpPr>
          <p:cNvPr id="7" name="Rectangle 6"/>
          <p:cNvSpPr/>
          <p:nvPr/>
        </p:nvSpPr>
        <p:spPr>
          <a:xfrm>
            <a:off x="533400" y="2114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7700" y="2124075"/>
            <a:ext cx="5600700" cy="152400"/>
          </a:xfrm>
          <a:prstGeom prst="rect">
            <a:avLst/>
          </a:prstGeom>
          <a:noFill/>
        </p:spPr>
        <p:txBody>
          <a:bodyPr wrap="square" lIns="0" rIns="0" tIns="0" bIns="0" anchor="t">
            <a:spAutoFit/>
          </a:bodyPr>
          <a:lstStyle/>
          <a:p>
            <a:pPr algn="l"/>
            <a:r>
              <a:rPr sz="900" b="1" i="0">
                <a:solidFill>
                  <a:srgbClr val="0F2A4A"/>
                </a:solidFill>
                <a:latin typeface="Segoe UI"/>
              </a:rPr>
              <a:t>Hardening programme P0-P25</a:t>
            </a:r>
          </a:p>
        </p:txBody>
      </p:sp>
      <p:sp>
        <p:nvSpPr>
          <p:cNvPr id="9" name="TextBox 8"/>
          <p:cNvSpPr txBox="1"/>
          <p:nvPr/>
        </p:nvSpPr>
        <p:spPr>
          <a:xfrm>
            <a:off x="647700" y="2286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230/230 checks PASS</a:t>
            </a:r>
          </a:p>
        </p:txBody>
      </p:sp>
      <p:sp>
        <p:nvSpPr>
          <p:cNvPr id="10" name="Rectangle 9"/>
          <p:cNvSpPr/>
          <p:nvPr/>
        </p:nvSpPr>
        <p:spPr>
          <a:xfrm>
            <a:off x="533400" y="2495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7700" y="2505075"/>
            <a:ext cx="5600700" cy="152400"/>
          </a:xfrm>
          <a:prstGeom prst="rect">
            <a:avLst/>
          </a:prstGeom>
          <a:noFill/>
        </p:spPr>
        <p:txBody>
          <a:bodyPr wrap="square" lIns="0" rIns="0" tIns="0" bIns="0" anchor="t">
            <a:spAutoFit/>
          </a:bodyPr>
          <a:lstStyle/>
          <a:p>
            <a:pPr algn="l"/>
            <a:r>
              <a:rPr sz="900" b="1" i="0">
                <a:solidFill>
                  <a:srgbClr val="0F2A4A"/>
                </a:solidFill>
                <a:latin typeface="Segoe UI"/>
              </a:rPr>
              <a:t>Image quality gate</a:t>
            </a:r>
          </a:p>
        </p:txBody>
      </p:sp>
      <p:sp>
        <p:nvSpPr>
          <p:cNvPr id="12" name="TextBox 11"/>
          <p:cNvSpPr txBox="1"/>
          <p:nvPr/>
        </p:nvSpPr>
        <p:spPr>
          <a:xfrm>
            <a:off x="647700" y="2667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3,662 images: PASS 65.48% / WARNING 26.68% / FAIL 7.84%</a:t>
            </a:r>
          </a:p>
        </p:txBody>
      </p:sp>
      <p:sp>
        <p:nvSpPr>
          <p:cNvPr id="13" name="Rectangle 12"/>
          <p:cNvSpPr/>
          <p:nvPr/>
        </p:nvSpPr>
        <p:spPr>
          <a:xfrm>
            <a:off x="533400" y="2876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7700" y="2886075"/>
            <a:ext cx="5600700" cy="152400"/>
          </a:xfrm>
          <a:prstGeom prst="rect">
            <a:avLst/>
          </a:prstGeom>
          <a:noFill/>
        </p:spPr>
        <p:txBody>
          <a:bodyPr wrap="square" lIns="0" rIns="0" tIns="0" bIns="0" anchor="t">
            <a:spAutoFit/>
          </a:bodyPr>
          <a:lstStyle/>
          <a:p>
            <a:pPr algn="l"/>
            <a:r>
              <a:rPr sz="900" b="1" i="0">
                <a:solidFill>
                  <a:srgbClr val="0F2A4A"/>
                </a:solidFill>
                <a:latin typeface="Segoe UI"/>
              </a:rPr>
              <a:t>5-class DR grader</a:t>
            </a:r>
          </a:p>
        </p:txBody>
      </p:sp>
      <p:sp>
        <p:nvSpPr>
          <p:cNvPr id="15" name="TextBox 14"/>
          <p:cNvSpPr txBox="1"/>
          <p:nvPr/>
        </p:nvSpPr>
        <p:spPr>
          <a:xfrm>
            <a:off x="647700" y="3048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ResNet-18, EyePACS-pretrained. QWK 0.8914 on the locked 733-image split</a:t>
            </a:r>
          </a:p>
        </p:txBody>
      </p:sp>
      <p:sp>
        <p:nvSpPr>
          <p:cNvPr id="16" name="Rectangle 15"/>
          <p:cNvSpPr/>
          <p:nvPr/>
        </p:nvSpPr>
        <p:spPr>
          <a:xfrm>
            <a:off x="533400" y="3257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7700" y="3267075"/>
            <a:ext cx="5600700" cy="152400"/>
          </a:xfrm>
          <a:prstGeom prst="rect">
            <a:avLst/>
          </a:prstGeom>
          <a:noFill/>
        </p:spPr>
        <p:txBody>
          <a:bodyPr wrap="square" lIns="0" rIns="0" tIns="0" bIns="0" anchor="t">
            <a:spAutoFit/>
          </a:bodyPr>
          <a:lstStyle/>
          <a:p>
            <a:pPr algn="l"/>
            <a:r>
              <a:rPr sz="900" b="1" i="0">
                <a:solidFill>
                  <a:srgbClr val="0F2A4A"/>
                </a:solidFill>
                <a:latin typeface="Segoe UI"/>
              </a:rPr>
              <a:t>Binary referable classifier</a:t>
            </a:r>
          </a:p>
        </p:txBody>
      </p:sp>
      <p:sp>
        <p:nvSpPr>
          <p:cNvPr id="18" name="TextBox 17"/>
          <p:cNvSpPr txBox="1"/>
          <p:nvPr/>
        </p:nvSpPr>
        <p:spPr>
          <a:xfrm>
            <a:off x="647700" y="3429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sensitivity 0.9060 / specificity 0.9471 at the locked 0.60 threshold</a:t>
            </a:r>
          </a:p>
        </p:txBody>
      </p:sp>
      <p:sp>
        <p:nvSpPr>
          <p:cNvPr id="19" name="Rectangle 18"/>
          <p:cNvSpPr/>
          <p:nvPr/>
        </p:nvSpPr>
        <p:spPr>
          <a:xfrm>
            <a:off x="533400" y="3638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7700" y="3648075"/>
            <a:ext cx="5600700" cy="152400"/>
          </a:xfrm>
          <a:prstGeom prst="rect">
            <a:avLst/>
          </a:prstGeom>
          <a:noFill/>
        </p:spPr>
        <p:txBody>
          <a:bodyPr wrap="square" lIns="0" rIns="0" tIns="0" bIns="0" anchor="t">
            <a:spAutoFit/>
          </a:bodyPr>
          <a:lstStyle/>
          <a:p>
            <a:pPr algn="l"/>
            <a:r>
              <a:rPr sz="900" b="1" i="0">
                <a:solidFill>
                  <a:srgbClr val="0F2A4A"/>
                </a:solidFill>
                <a:latin typeface="Segoe UI"/>
              </a:rPr>
              <a:t>OOD advisory detector</a:t>
            </a:r>
          </a:p>
        </p:txBody>
      </p:sp>
      <p:sp>
        <p:nvSpPr>
          <p:cNvPr id="21" name="TextBox 20"/>
          <p:cNvSpPr txBox="1"/>
          <p:nvPr/>
        </p:nvSpPr>
        <p:spPr>
          <a:xfrm>
            <a:off x="647700" y="3810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Mahalanobis, locked p99 34.22. Surfaces in the narrative; never alters a route</a:t>
            </a:r>
          </a:p>
        </p:txBody>
      </p:sp>
      <p:sp>
        <p:nvSpPr>
          <p:cNvPr id="22" name="Rectangle 21"/>
          <p:cNvSpPr/>
          <p:nvPr/>
        </p:nvSpPr>
        <p:spPr>
          <a:xfrm>
            <a:off x="533400" y="4019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7700" y="4029075"/>
            <a:ext cx="5600700" cy="152400"/>
          </a:xfrm>
          <a:prstGeom prst="rect">
            <a:avLst/>
          </a:prstGeom>
          <a:noFill/>
        </p:spPr>
        <p:txBody>
          <a:bodyPr wrap="square" lIns="0" rIns="0" tIns="0" bIns="0" anchor="t">
            <a:spAutoFit/>
          </a:bodyPr>
          <a:lstStyle/>
          <a:p>
            <a:pPr algn="l"/>
            <a:r>
              <a:rPr sz="900" b="1" i="0">
                <a:solidFill>
                  <a:srgbClr val="0F2A4A"/>
                </a:solidFill>
                <a:latin typeface="Segoe UI"/>
              </a:rPr>
              <a:t>Cascade router</a:t>
            </a:r>
          </a:p>
        </p:txBody>
      </p:sp>
      <p:sp>
        <p:nvSpPr>
          <p:cNvPr id="24" name="TextBox 23"/>
          <p:cNvSpPr txBox="1"/>
          <p:nvPr/>
        </p:nvSpPr>
        <p:spPr>
          <a:xfrm>
            <a:off x="647700" y="4191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CLEAR 648 / REVIEW 75 / ABSTAIN 10</a:t>
            </a:r>
          </a:p>
        </p:txBody>
      </p:sp>
      <p:sp>
        <p:nvSpPr>
          <p:cNvPr id="25" name="Rectangle 24"/>
          <p:cNvSpPr/>
          <p:nvPr/>
        </p:nvSpPr>
        <p:spPr>
          <a:xfrm>
            <a:off x="533400" y="4400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7700" y="4410075"/>
            <a:ext cx="5600700" cy="152400"/>
          </a:xfrm>
          <a:prstGeom prst="rect">
            <a:avLst/>
          </a:prstGeom>
          <a:noFill/>
        </p:spPr>
        <p:txBody>
          <a:bodyPr wrap="square" lIns="0" rIns="0" tIns="0" bIns="0" anchor="t">
            <a:spAutoFit/>
          </a:bodyPr>
          <a:lstStyle/>
          <a:p>
            <a:pPr algn="l"/>
            <a:r>
              <a:rPr sz="900" b="1" i="0">
                <a:solidFill>
                  <a:srgbClr val="0F2A4A"/>
                </a:solidFill>
                <a:latin typeface="Segoe UI"/>
              </a:rPr>
              <a:t>Temperature calibration</a:t>
            </a:r>
          </a:p>
        </p:txBody>
      </p:sp>
      <p:sp>
        <p:nvSpPr>
          <p:cNvPr id="27" name="TextBox 26"/>
          <p:cNvSpPr txBox="1"/>
          <p:nvPr/>
        </p:nvSpPr>
        <p:spPr>
          <a:xfrm>
            <a:off x="647700" y="4572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T = 2.5382, display-only</a:t>
            </a:r>
          </a:p>
        </p:txBody>
      </p:sp>
      <p:sp>
        <p:nvSpPr>
          <p:cNvPr id="28" name="Rectangle 27"/>
          <p:cNvSpPr/>
          <p:nvPr/>
        </p:nvSpPr>
        <p:spPr>
          <a:xfrm>
            <a:off x="533400" y="4781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7700" y="4791075"/>
            <a:ext cx="5600700" cy="152400"/>
          </a:xfrm>
          <a:prstGeom prst="rect">
            <a:avLst/>
          </a:prstGeom>
          <a:noFill/>
        </p:spPr>
        <p:txBody>
          <a:bodyPr wrap="square" lIns="0" rIns="0" tIns="0" bIns="0" anchor="t">
            <a:spAutoFit/>
          </a:bodyPr>
          <a:lstStyle/>
          <a:p>
            <a:pPr algn="l"/>
            <a:r>
              <a:rPr sz="900" b="1" i="0">
                <a:solidFill>
                  <a:srgbClr val="0F2A4A"/>
                </a:solidFill>
                <a:latin typeface="Segoe UI"/>
              </a:rPr>
              <a:t>Grad-CAM, lesion evidence, Branch B</a:t>
            </a:r>
          </a:p>
        </p:txBody>
      </p:sp>
      <p:sp>
        <p:nvSpPr>
          <p:cNvPr id="30" name="TextBox 29"/>
          <p:cNvSpPr txBox="1"/>
          <p:nvPr/>
        </p:nvSpPr>
        <p:spPr>
          <a:xfrm>
            <a:off x="647700" y="4953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running, weaknesses documented</a:t>
            </a:r>
          </a:p>
        </p:txBody>
      </p:sp>
      <p:sp>
        <p:nvSpPr>
          <p:cNvPr id="31" name="Rectangle 30"/>
          <p:cNvSpPr/>
          <p:nvPr/>
        </p:nvSpPr>
        <p:spPr>
          <a:xfrm>
            <a:off x="533400" y="5162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7700" y="5172075"/>
            <a:ext cx="5600700" cy="152400"/>
          </a:xfrm>
          <a:prstGeom prst="rect">
            <a:avLst/>
          </a:prstGeom>
          <a:noFill/>
        </p:spPr>
        <p:txBody>
          <a:bodyPr wrap="square" lIns="0" rIns="0" tIns="0" bIns="0" anchor="t">
            <a:spAutoFit/>
          </a:bodyPr>
          <a:lstStyle/>
          <a:p>
            <a:pPr algn="l"/>
            <a:r>
              <a:rPr sz="900" b="1" i="0">
                <a:solidFill>
                  <a:srgbClr val="0F2A4A"/>
                </a:solidFill>
                <a:latin typeface="Segoe UI"/>
              </a:rPr>
              <a:t>Dashboard and branded A4 report</a:t>
            </a:r>
          </a:p>
        </p:txBody>
      </p:sp>
      <p:sp>
        <p:nvSpPr>
          <p:cNvPr id="33" name="TextBox 32"/>
          <p:cNvSpPr txBox="1"/>
          <p:nvPr/>
        </p:nvSpPr>
        <p:spPr>
          <a:xfrm>
            <a:off x="647700" y="5334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headless verification 35/35 PASS; report verification PASS</a:t>
            </a:r>
          </a:p>
        </p:txBody>
      </p:sp>
      <p:sp>
        <p:nvSpPr>
          <p:cNvPr id="34" name="Rectangle 33"/>
          <p:cNvSpPr/>
          <p:nvPr/>
        </p:nvSpPr>
        <p:spPr>
          <a:xfrm>
            <a:off x="533400" y="5543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7700" y="5553075"/>
            <a:ext cx="5600700" cy="152400"/>
          </a:xfrm>
          <a:prstGeom prst="rect">
            <a:avLst/>
          </a:prstGeom>
          <a:noFill/>
        </p:spPr>
        <p:txBody>
          <a:bodyPr wrap="square" lIns="0" rIns="0" tIns="0" bIns="0" anchor="t">
            <a:spAutoFit/>
          </a:bodyPr>
          <a:lstStyle/>
          <a:p>
            <a:pPr algn="l"/>
            <a:r>
              <a:rPr sz="900" b="1" i="0">
                <a:solidFill>
                  <a:srgbClr val="0F2A4A"/>
                </a:solidFill>
                <a:latin typeface="Segoe UI"/>
              </a:rPr>
              <a:t>Simulink district model</a:t>
            </a:r>
          </a:p>
        </p:txBody>
      </p:sp>
      <p:sp>
        <p:nvSpPr>
          <p:cNvPr id="36" name="TextBox 35"/>
          <p:cNvSpPr txBox="1"/>
          <p:nvPr/>
        </p:nvSpPr>
        <p:spPr>
          <a:xfrm>
            <a:off x="647700" y="5715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a genuine .slx reproducing its reference engine over 250 days; 11/11 checks PASS</a:t>
            </a:r>
          </a:p>
        </p:txBody>
      </p:sp>
      <p:sp>
        <p:nvSpPr>
          <p:cNvPr id="37" name="Rectangle 36"/>
          <p:cNvSpPr/>
          <p:nvPr/>
        </p:nvSpPr>
        <p:spPr>
          <a:xfrm>
            <a:off x="533400" y="5924550"/>
            <a:ext cx="28575" cy="342900"/>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7700" y="5934075"/>
            <a:ext cx="5600700" cy="152400"/>
          </a:xfrm>
          <a:prstGeom prst="rect">
            <a:avLst/>
          </a:prstGeom>
          <a:noFill/>
        </p:spPr>
        <p:txBody>
          <a:bodyPr wrap="square" lIns="0" rIns="0" tIns="0" bIns="0" anchor="t">
            <a:spAutoFit/>
          </a:bodyPr>
          <a:lstStyle/>
          <a:p>
            <a:pPr algn="l"/>
            <a:r>
              <a:rPr sz="900" b="1" i="0">
                <a:solidFill>
                  <a:srgbClr val="0F2A4A"/>
                </a:solidFill>
                <a:latin typeface="Segoe UI"/>
              </a:rPr>
              <a:t>Unseen-input rehearsal harness</a:t>
            </a:r>
          </a:p>
        </p:txBody>
      </p:sp>
      <p:sp>
        <p:nvSpPr>
          <p:cNvPr id="39" name="TextBox 38"/>
          <p:cNvSpPr txBox="1"/>
          <p:nvPr/>
        </p:nvSpPr>
        <p:spPr>
          <a:xfrm>
            <a:off x="647700" y="6096000"/>
            <a:ext cx="56007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19 foreign-camera images, 4/4 contract checks PASS</a:t>
            </a:r>
          </a:p>
        </p:txBody>
      </p:sp>
      <p:sp>
        <p:nvSpPr>
          <p:cNvPr id="40" name="TextBox 39"/>
          <p:cNvSpPr txBox="1"/>
          <p:nvPr/>
        </p:nvSpPr>
        <p:spPr>
          <a:xfrm>
            <a:off x="6667500" y="1885950"/>
            <a:ext cx="4991100" cy="190500"/>
          </a:xfrm>
          <a:prstGeom prst="rect">
            <a:avLst/>
          </a:prstGeom>
          <a:noFill/>
        </p:spPr>
        <p:txBody>
          <a:bodyPr wrap="square" lIns="0" rIns="0" tIns="0" bIns="0" anchor="t">
            <a:spAutoFit/>
          </a:bodyPr>
          <a:lstStyle/>
          <a:p>
            <a:pPr algn="l"/>
            <a:r>
              <a:rPr sz="1000" b="1" i="0">
                <a:solidFill>
                  <a:srgbClr val="8A6200"/>
                </a:solidFill>
                <a:latin typeface="Segoe UI"/>
              </a:rPr>
              <a:t>PLANNED / BLOCKED</a:t>
            </a:r>
          </a:p>
        </p:txBody>
      </p:sp>
      <p:sp>
        <p:nvSpPr>
          <p:cNvPr id="41" name="Rectangle 40"/>
          <p:cNvSpPr/>
          <p:nvPr/>
        </p:nvSpPr>
        <p:spPr>
          <a:xfrm>
            <a:off x="6667500" y="2114550"/>
            <a:ext cx="28575" cy="571500"/>
          </a:xfrm>
          <a:prstGeom prst="rect">
            <a:avLst/>
          </a:prstGeom>
          <a:solidFill>
            <a:srgbClr val="8A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781800" y="2124075"/>
            <a:ext cx="4876800" cy="152400"/>
          </a:xfrm>
          <a:prstGeom prst="rect">
            <a:avLst/>
          </a:prstGeom>
          <a:noFill/>
        </p:spPr>
        <p:txBody>
          <a:bodyPr wrap="square" lIns="0" rIns="0" tIns="0" bIns="0" anchor="t">
            <a:spAutoFit/>
          </a:bodyPr>
          <a:lstStyle/>
          <a:p>
            <a:pPr algn="l"/>
            <a:r>
              <a:rPr sz="900" b="1" i="0">
                <a:solidFill>
                  <a:srgbClr val="0F2A4A"/>
                </a:solidFill>
                <a:latin typeface="Segoe UI"/>
              </a:rPr>
              <a:t>External validation - BLOCKED, not performed.</a:t>
            </a:r>
          </a:p>
        </p:txBody>
      </p:sp>
      <p:sp>
        <p:nvSpPr>
          <p:cNvPr id="43" name="TextBox 42"/>
          <p:cNvSpPr txBox="1"/>
          <p:nvPr/>
        </p:nvSpPr>
        <p:spPr>
          <a:xfrm>
            <a:off x="6781800" y="2286000"/>
            <a:ext cx="4876800" cy="4000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Messidor-2 needs ADCIS registration; Sin-NP DR 2019 needs a data request. Owner: team, on dataset licensing. Harness written, 6/6.</a:t>
            </a:r>
          </a:p>
        </p:txBody>
      </p:sp>
      <p:sp>
        <p:nvSpPr>
          <p:cNvPr id="44" name="Rectangle 43"/>
          <p:cNvSpPr/>
          <p:nvPr/>
        </p:nvSpPr>
        <p:spPr>
          <a:xfrm>
            <a:off x="6667500" y="2724150"/>
            <a:ext cx="28575" cy="571500"/>
          </a:xfrm>
          <a:prstGeom prst="rect">
            <a:avLst/>
          </a:prstGeom>
          <a:solidFill>
            <a:srgbClr val="8A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781800" y="2733675"/>
            <a:ext cx="4876800" cy="152400"/>
          </a:xfrm>
          <a:prstGeom prst="rect">
            <a:avLst/>
          </a:prstGeom>
          <a:noFill/>
        </p:spPr>
        <p:txBody>
          <a:bodyPr wrap="square" lIns="0" rIns="0" tIns="0" bIns="0" anchor="t">
            <a:spAutoFit/>
          </a:bodyPr>
          <a:lstStyle/>
          <a:p>
            <a:pPr algn="l"/>
            <a:r>
              <a:rPr sz="900" b="1" i="0">
                <a:solidFill>
                  <a:srgbClr val="0F2A4A"/>
                </a:solidFill>
                <a:latin typeface="Segoe UI"/>
              </a:rPr>
              <a:t>Minority-recall experiments - deliberately switched off.</a:t>
            </a:r>
          </a:p>
        </p:txBody>
      </p:sp>
      <p:sp>
        <p:nvSpPr>
          <p:cNvPr id="46" name="TextBox 45"/>
          <p:cNvSpPr txBox="1"/>
          <p:nvPr/>
        </p:nvSpPr>
        <p:spPr>
          <a:xfrm>
            <a:off x="6781800" y="2895600"/>
            <a:ext cx="4876800" cy="4000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Target-boosted weighting and targeted augmentation on Severe and Proliferative are disabled in the training script by operator decision. Owner: mentor approval.</a:t>
            </a:r>
          </a:p>
        </p:txBody>
      </p:sp>
      <p:sp>
        <p:nvSpPr>
          <p:cNvPr id="47" name="Rectangle 46"/>
          <p:cNvSpPr/>
          <p:nvPr/>
        </p:nvSpPr>
        <p:spPr>
          <a:xfrm>
            <a:off x="6667500" y="3333750"/>
            <a:ext cx="28575" cy="571500"/>
          </a:xfrm>
          <a:prstGeom prst="rect">
            <a:avLst/>
          </a:prstGeom>
          <a:solidFill>
            <a:srgbClr val="8A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781800" y="3343275"/>
            <a:ext cx="4876800" cy="152400"/>
          </a:xfrm>
          <a:prstGeom prst="rect">
            <a:avLst/>
          </a:prstGeom>
          <a:noFill/>
        </p:spPr>
        <p:txBody>
          <a:bodyPr wrap="square" lIns="0" rIns="0" tIns="0" bIns="0" anchor="t">
            <a:spAutoFit/>
          </a:bodyPr>
          <a:lstStyle/>
          <a:p>
            <a:pPr algn="l"/>
            <a:r>
              <a:rPr sz="900" b="1" i="0">
                <a:solidFill>
                  <a:srgbClr val="0F2A4A"/>
                </a:solidFill>
                <a:latin typeface="Segoe UI"/>
              </a:rPr>
              <a:t>Grad-CAM localisation agreement - measured, and weak.</a:t>
            </a:r>
          </a:p>
        </p:txBody>
      </p:sp>
      <p:sp>
        <p:nvSpPr>
          <p:cNvPr id="49" name="TextBox 48"/>
          <p:cNvSpPr txBox="1"/>
          <p:nvPr/>
        </p:nvSpPr>
        <p:spPr>
          <a:xfrm>
            <a:off x="6781800" y="3505200"/>
            <a:ext cx="4876800" cy="4000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Saliency-in-lesion 3.1%, pointing game 7.4%, mean IoU 0.035. MACE not measured. We did not retrain to chase a better number.</a:t>
            </a:r>
          </a:p>
        </p:txBody>
      </p:sp>
      <p:sp>
        <p:nvSpPr>
          <p:cNvPr id="50" name="Rectangle 49"/>
          <p:cNvSpPr/>
          <p:nvPr/>
        </p:nvSpPr>
        <p:spPr>
          <a:xfrm>
            <a:off x="6667500" y="3943350"/>
            <a:ext cx="28575" cy="571500"/>
          </a:xfrm>
          <a:prstGeom prst="rect">
            <a:avLst/>
          </a:prstGeom>
          <a:solidFill>
            <a:srgbClr val="8A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781800" y="3952875"/>
            <a:ext cx="4876800" cy="152400"/>
          </a:xfrm>
          <a:prstGeom prst="rect">
            <a:avLst/>
          </a:prstGeom>
          <a:noFill/>
        </p:spPr>
        <p:txBody>
          <a:bodyPr wrap="square" lIns="0" rIns="0" tIns="0" bIns="0" anchor="t">
            <a:spAutoFit/>
          </a:bodyPr>
          <a:lstStyle/>
          <a:p>
            <a:pPr algn="l"/>
            <a:r>
              <a:rPr sz="900" b="1" i="0">
                <a:solidFill>
                  <a:srgbClr val="0F2A4A"/>
                </a:solidFill>
                <a:latin typeface="Segoe UI"/>
              </a:rPr>
              <a:t>Fovea localisation - failed.</a:t>
            </a:r>
          </a:p>
        </p:txBody>
      </p:sp>
      <p:sp>
        <p:nvSpPr>
          <p:cNvPr id="52" name="TextBox 51"/>
          <p:cNvSpPr txBox="1"/>
          <p:nvPr/>
        </p:nvSpPr>
        <p:spPr>
          <a:xfrm>
            <a:off x="6781800" y="4114800"/>
            <a:ext cx="4876800" cy="4000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0 of 10 held-out images within 300 px. The pipeline therefore emits no fovea-derived distance. Revisit if fovea-labelled data appears.</a:t>
            </a:r>
          </a:p>
        </p:txBody>
      </p:sp>
      <p:sp>
        <p:nvSpPr>
          <p:cNvPr id="53" name="Rectangle 52"/>
          <p:cNvSpPr/>
          <p:nvPr/>
        </p:nvSpPr>
        <p:spPr>
          <a:xfrm>
            <a:off x="6667500" y="4552950"/>
            <a:ext cx="28575" cy="571500"/>
          </a:xfrm>
          <a:prstGeom prst="rect">
            <a:avLst/>
          </a:prstGeom>
          <a:solidFill>
            <a:srgbClr val="8A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781800" y="4562475"/>
            <a:ext cx="4876800" cy="152400"/>
          </a:xfrm>
          <a:prstGeom prst="rect">
            <a:avLst/>
          </a:prstGeom>
          <a:noFill/>
        </p:spPr>
        <p:txBody>
          <a:bodyPr wrap="square" lIns="0" rIns="0" tIns="0" bIns="0" anchor="t">
            <a:spAutoFit/>
          </a:bodyPr>
          <a:lstStyle/>
          <a:p>
            <a:pPr algn="l"/>
            <a:r>
              <a:rPr sz="900" b="1" i="0">
                <a:solidFill>
                  <a:srgbClr val="0F2A4A"/>
                </a:solidFill>
                <a:latin typeface="Segoe UI"/>
              </a:rPr>
              <a:t>Image enhancement - excluded on evidence.</a:t>
            </a:r>
          </a:p>
        </p:txBody>
      </p:sp>
      <p:sp>
        <p:nvSpPr>
          <p:cNvPr id="55" name="TextBox 54"/>
          <p:cNvSpPr txBox="1"/>
          <p:nvPr/>
        </p:nvSpPr>
        <p:spPr>
          <a:xfrm>
            <a:off x="6781800" y="4724400"/>
            <a:ext cx="4876800" cy="4000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The A/B experiment showed it degraded grading, so the deployed path feeds the model the raw resized image.</a:t>
            </a:r>
          </a:p>
        </p:txBody>
      </p:sp>
      <p:sp>
        <p:nvSpPr>
          <p:cNvPr id="56" name="Rectangle 55"/>
          <p:cNvSpPr/>
          <p:nvPr/>
        </p:nvSpPr>
        <p:spPr>
          <a:xfrm>
            <a:off x="6667500" y="5162550"/>
            <a:ext cx="28575" cy="571500"/>
          </a:xfrm>
          <a:prstGeom prst="rect">
            <a:avLst/>
          </a:prstGeom>
          <a:solidFill>
            <a:srgbClr val="8A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781800" y="5172075"/>
            <a:ext cx="4876800" cy="152400"/>
          </a:xfrm>
          <a:prstGeom prst="rect">
            <a:avLst/>
          </a:prstGeom>
          <a:noFill/>
        </p:spPr>
        <p:txBody>
          <a:bodyPr wrap="square" lIns="0" rIns="0" tIns="0" bIns="0" anchor="t">
            <a:spAutoFit/>
          </a:bodyPr>
          <a:lstStyle/>
          <a:p>
            <a:pPr algn="l"/>
            <a:r>
              <a:rPr sz="900" b="1" i="0">
                <a:solidFill>
                  <a:srgbClr val="0F2A4A"/>
                </a:solidFill>
                <a:latin typeface="Segoe UI"/>
              </a:rPr>
              <a:t>Vessel segmentation in production - excluded on evidence.</a:t>
            </a:r>
          </a:p>
        </p:txBody>
      </p:sp>
      <p:sp>
        <p:nvSpPr>
          <p:cNvPr id="58" name="TextBox 57"/>
          <p:cNvSpPr txBox="1"/>
          <p:nvPr/>
        </p:nvSpPr>
        <p:spPr>
          <a:xfrm>
            <a:off x="6781800" y="5334000"/>
            <a:ext cx="4876800" cy="4000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Adding vessel features reduced Branch-B AUC from 0.8969 to 0.8810, so the branch ships without them. Negative result kept in the record.</a:t>
            </a:r>
          </a:p>
        </p:txBody>
      </p:sp>
      <p:sp>
        <p:nvSpPr>
          <p:cNvPr id="59" name="Rectangle 58"/>
          <p:cNvSpPr/>
          <p:nvPr/>
        </p:nvSpPr>
        <p:spPr>
          <a:xfrm>
            <a:off x="533400" y="6419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533400" y="6496050"/>
            <a:ext cx="10744200" cy="247650"/>
          </a:xfrm>
          <a:prstGeom prst="rect">
            <a:avLst/>
          </a:prstGeom>
          <a:noFill/>
        </p:spPr>
        <p:txBody>
          <a:bodyPr wrap="square" lIns="0" rIns="0" tIns="0" bIns="0" anchor="t">
            <a:spAutoFit/>
          </a:bodyPr>
          <a:lstStyle/>
          <a:p>
            <a:pPr algn="l">
              <a:lnSpc>
                <a:spcPct val="125000"/>
              </a:lnSpc>
            </a:pPr>
            <a:r>
              <a:rPr sz="750" b="0" i="0">
                <a:solidFill>
                  <a:srgbClr val="7C8B9A"/>
                </a:solidFill>
                <a:latin typeface="Segoe UI"/>
              </a:rPr>
              <a:t>Engineering prototype. Not a clinical device. No clinical validation performed. Not for diagnosis or treatment decisions.</a:t>
            </a:r>
          </a:p>
        </p:txBody>
      </p:sp>
      <p:sp>
        <p:nvSpPr>
          <p:cNvPr id="61" name="TextBox 60"/>
          <p:cNvSpPr txBox="1"/>
          <p:nvPr/>
        </p:nvSpPr>
        <p:spPr>
          <a:xfrm>
            <a:off x="11372850" y="6496050"/>
            <a:ext cx="285750" cy="133350"/>
          </a:xfrm>
          <a:prstGeom prst="rect">
            <a:avLst/>
          </a:prstGeom>
          <a:noFill/>
        </p:spPr>
        <p:txBody>
          <a:bodyPr wrap="square" lIns="0" rIns="0" tIns="0" bIns="0" anchor="t">
            <a:spAutoFit/>
          </a:bodyPr>
          <a:lstStyle/>
          <a:p>
            <a:pPr algn="l"/>
            <a:r>
              <a:rPr sz="850" b="1" i="0">
                <a:solidFill>
                  <a:srgbClr val="7C8B9A"/>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61950"/>
            <a:ext cx="11125200" cy="171450"/>
          </a:xfrm>
          <a:prstGeom prst="rect">
            <a:avLst/>
          </a:prstGeom>
          <a:noFill/>
        </p:spPr>
        <p:txBody>
          <a:bodyPr wrap="square" lIns="0" rIns="0" tIns="0" bIns="0" anchor="t">
            <a:spAutoFit/>
          </a:bodyPr>
          <a:lstStyle/>
          <a:p>
            <a:pPr algn="l"/>
            <a:r>
              <a:rPr sz="1050" b="1" i="0">
                <a:solidFill>
                  <a:srgbClr val="7C8B9A"/>
                </a:solidFill>
                <a:latin typeface="Segoe UI"/>
              </a:rPr>
              <a:t>MEASURED PERFORMANCE</a:t>
            </a:r>
          </a:p>
        </p:txBody>
      </p:sp>
      <p:sp>
        <p:nvSpPr>
          <p:cNvPr id="3" name="TextBox 2"/>
          <p:cNvSpPr txBox="1"/>
          <p:nvPr/>
        </p:nvSpPr>
        <p:spPr>
          <a:xfrm>
            <a:off x="533400" y="552450"/>
            <a:ext cx="11125200" cy="762000"/>
          </a:xfrm>
          <a:prstGeom prst="rect">
            <a:avLst/>
          </a:prstGeom>
          <a:noFill/>
        </p:spPr>
        <p:txBody>
          <a:bodyPr wrap="square" lIns="0" rIns="0" tIns="0" bIns="0" anchor="t">
            <a:spAutoFit/>
          </a:bodyPr>
          <a:lstStyle/>
          <a:p>
            <a:pPr algn="l">
              <a:lnSpc>
                <a:spcPct val="110000"/>
              </a:lnSpc>
            </a:pPr>
            <a:r>
              <a:rPr sz="2300" b="1">
                <a:solidFill>
                  <a:srgbClr val="0F2A4A"/>
                </a:solidFill>
                <a:latin typeface="Segoe UI"/>
              </a:rPr>
              <a:t>Locked 733-image validation split, </a:t>
            </a:r>
            <a:r>
              <a:rPr sz="2300" b="0">
                <a:solidFill>
                  <a:srgbClr val="7C8B9A"/>
                </a:solidFill>
                <a:latin typeface="Segoe UI"/>
              </a:rPr>
              <a:t>seed 42</a:t>
            </a:r>
          </a:p>
        </p:txBody>
      </p:sp>
      <p:sp>
        <p:nvSpPr>
          <p:cNvPr id="4" name="Rectangle 3"/>
          <p:cNvSpPr/>
          <p:nvPr/>
        </p:nvSpPr>
        <p:spPr>
          <a:xfrm>
            <a:off x="533400" y="13525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3400" y="1543050"/>
            <a:ext cx="11125200" cy="233362"/>
          </a:xfrm>
          <a:prstGeom prst="rect">
            <a:avLst/>
          </a:prstGeom>
          <a:noFill/>
        </p:spPr>
        <p:txBody>
          <a:bodyPr wrap="square" lIns="0" rIns="0" tIns="0" bIns="0" anchor="t">
            <a:spAutoFit/>
          </a:bodyPr>
          <a:lstStyle/>
          <a:p>
            <a:pPr algn="l">
              <a:lnSpc>
                <a:spcPct val="140000"/>
              </a:lnSpc>
            </a:pPr>
            <a:r>
              <a:rPr sz="1050" b="0" i="0">
                <a:solidFill>
                  <a:srgbClr val="40505F"/>
                </a:solidFill>
                <a:latin typeface="Segoe UI"/>
              </a:rPr>
              <a:t>Every figure below is frozen under a written contract: no retuning of the threshold or the calibration temperature, and no use of the sealed official test set.</a:t>
            </a:r>
          </a:p>
        </p:txBody>
      </p:sp>
      <p:sp>
        <p:nvSpPr>
          <p:cNvPr id="6" name="Rectangle 5"/>
          <p:cNvSpPr/>
          <p:nvPr/>
        </p:nvSpPr>
        <p:spPr>
          <a:xfrm>
            <a:off x="533400" y="1809750"/>
            <a:ext cx="1507671"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7700" y="1885950"/>
            <a:ext cx="1279071" cy="269875"/>
          </a:xfrm>
          <a:prstGeom prst="rect">
            <a:avLst/>
          </a:prstGeom>
          <a:noFill/>
        </p:spPr>
        <p:txBody>
          <a:bodyPr wrap="square" lIns="0" rIns="0" tIns="0" bIns="0" anchor="t">
            <a:spAutoFit/>
          </a:bodyPr>
          <a:lstStyle/>
          <a:p>
            <a:pPr algn="l"/>
            <a:r>
              <a:rPr sz="1700" b="1" i="0">
                <a:solidFill>
                  <a:srgbClr val="0F2A4A"/>
                </a:solidFill>
                <a:latin typeface="Segoe UI"/>
              </a:rPr>
              <a:t>0.8281</a:t>
            </a:r>
          </a:p>
        </p:txBody>
      </p:sp>
      <p:sp>
        <p:nvSpPr>
          <p:cNvPr id="8" name="TextBox 7"/>
          <p:cNvSpPr txBox="1"/>
          <p:nvPr/>
        </p:nvSpPr>
        <p:spPr>
          <a:xfrm>
            <a:off x="647700" y="2174875"/>
            <a:ext cx="1279071"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Accuracy</a:t>
            </a:r>
          </a:p>
        </p:txBody>
      </p:sp>
      <p:sp>
        <p:nvSpPr>
          <p:cNvPr id="9" name="Rectangle 8"/>
          <p:cNvSpPr/>
          <p:nvPr/>
        </p:nvSpPr>
        <p:spPr>
          <a:xfrm>
            <a:off x="2136321" y="1809750"/>
            <a:ext cx="1507671"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250621" y="1885950"/>
            <a:ext cx="1279071" cy="269875"/>
          </a:xfrm>
          <a:prstGeom prst="rect">
            <a:avLst/>
          </a:prstGeom>
          <a:noFill/>
        </p:spPr>
        <p:txBody>
          <a:bodyPr wrap="square" lIns="0" rIns="0" tIns="0" bIns="0" anchor="t">
            <a:spAutoFit/>
          </a:bodyPr>
          <a:lstStyle/>
          <a:p>
            <a:pPr algn="l"/>
            <a:r>
              <a:rPr sz="1700" b="1" i="0">
                <a:solidFill>
                  <a:srgbClr val="0F2A4A"/>
                </a:solidFill>
                <a:latin typeface="Segoe UI"/>
              </a:rPr>
              <a:t>0.6805</a:t>
            </a:r>
          </a:p>
        </p:txBody>
      </p:sp>
      <p:sp>
        <p:nvSpPr>
          <p:cNvPr id="11" name="TextBox 10"/>
          <p:cNvSpPr txBox="1"/>
          <p:nvPr/>
        </p:nvSpPr>
        <p:spPr>
          <a:xfrm>
            <a:off x="2250621" y="2174875"/>
            <a:ext cx="1279071"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Macro F1</a:t>
            </a:r>
          </a:p>
        </p:txBody>
      </p:sp>
      <p:sp>
        <p:nvSpPr>
          <p:cNvPr id="12" name="Rectangle 11"/>
          <p:cNvSpPr/>
          <p:nvPr/>
        </p:nvSpPr>
        <p:spPr>
          <a:xfrm>
            <a:off x="3739243" y="1809750"/>
            <a:ext cx="1507671"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853543" y="1885950"/>
            <a:ext cx="1279071" cy="269875"/>
          </a:xfrm>
          <a:prstGeom prst="rect">
            <a:avLst/>
          </a:prstGeom>
          <a:noFill/>
        </p:spPr>
        <p:txBody>
          <a:bodyPr wrap="square" lIns="0" rIns="0" tIns="0" bIns="0" anchor="t">
            <a:spAutoFit/>
          </a:bodyPr>
          <a:lstStyle/>
          <a:p>
            <a:pPr algn="l"/>
            <a:r>
              <a:rPr sz="1700" b="1" i="0">
                <a:solidFill>
                  <a:srgbClr val="0F2A4A"/>
                </a:solidFill>
                <a:latin typeface="Segoe UI"/>
              </a:rPr>
              <a:t>0.8914</a:t>
            </a:r>
          </a:p>
        </p:txBody>
      </p:sp>
      <p:sp>
        <p:nvSpPr>
          <p:cNvPr id="14" name="TextBox 13"/>
          <p:cNvSpPr txBox="1"/>
          <p:nvPr/>
        </p:nvSpPr>
        <p:spPr>
          <a:xfrm>
            <a:off x="3853543" y="2174875"/>
            <a:ext cx="1279071"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Quadratic weighted kappa</a:t>
            </a:r>
          </a:p>
        </p:txBody>
      </p:sp>
      <p:sp>
        <p:nvSpPr>
          <p:cNvPr id="15" name="Rectangle 14"/>
          <p:cNvSpPr/>
          <p:nvPr/>
        </p:nvSpPr>
        <p:spPr>
          <a:xfrm>
            <a:off x="5342164" y="1809750"/>
            <a:ext cx="1507671"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56464" y="1885950"/>
            <a:ext cx="1279071" cy="269875"/>
          </a:xfrm>
          <a:prstGeom prst="rect">
            <a:avLst/>
          </a:prstGeom>
          <a:noFill/>
        </p:spPr>
        <p:txBody>
          <a:bodyPr wrap="square" lIns="0" rIns="0" tIns="0" bIns="0" anchor="t">
            <a:spAutoFit/>
          </a:bodyPr>
          <a:lstStyle/>
          <a:p>
            <a:pPr algn="l"/>
            <a:r>
              <a:rPr sz="1700" b="1" i="0">
                <a:solidFill>
                  <a:srgbClr val="0F2A4A"/>
                </a:solidFill>
                <a:latin typeface="Segoe UI"/>
              </a:rPr>
              <a:t>0.9060</a:t>
            </a:r>
          </a:p>
        </p:txBody>
      </p:sp>
      <p:sp>
        <p:nvSpPr>
          <p:cNvPr id="17" name="TextBox 16"/>
          <p:cNvSpPr txBox="1"/>
          <p:nvPr/>
        </p:nvSpPr>
        <p:spPr>
          <a:xfrm>
            <a:off x="5456464" y="2174875"/>
            <a:ext cx="1279071"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Sensitivity, referable DR</a:t>
            </a:r>
          </a:p>
        </p:txBody>
      </p:sp>
      <p:sp>
        <p:nvSpPr>
          <p:cNvPr id="18" name="Rectangle 17"/>
          <p:cNvSpPr/>
          <p:nvPr/>
        </p:nvSpPr>
        <p:spPr>
          <a:xfrm>
            <a:off x="6945086" y="1809750"/>
            <a:ext cx="1507671"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059386" y="1885950"/>
            <a:ext cx="1279071" cy="269875"/>
          </a:xfrm>
          <a:prstGeom prst="rect">
            <a:avLst/>
          </a:prstGeom>
          <a:noFill/>
        </p:spPr>
        <p:txBody>
          <a:bodyPr wrap="square" lIns="0" rIns="0" tIns="0" bIns="0" anchor="t">
            <a:spAutoFit/>
          </a:bodyPr>
          <a:lstStyle/>
          <a:p>
            <a:pPr algn="l"/>
            <a:r>
              <a:rPr sz="1700" b="1" i="0">
                <a:solidFill>
                  <a:srgbClr val="0F2A4A"/>
                </a:solidFill>
                <a:latin typeface="Segoe UI"/>
              </a:rPr>
              <a:t>0.9471</a:t>
            </a:r>
          </a:p>
        </p:txBody>
      </p:sp>
      <p:sp>
        <p:nvSpPr>
          <p:cNvPr id="20" name="TextBox 19"/>
          <p:cNvSpPr txBox="1"/>
          <p:nvPr/>
        </p:nvSpPr>
        <p:spPr>
          <a:xfrm>
            <a:off x="7059386" y="2174875"/>
            <a:ext cx="1279071"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Specificity, referable DR</a:t>
            </a:r>
          </a:p>
        </p:txBody>
      </p:sp>
      <p:sp>
        <p:nvSpPr>
          <p:cNvPr id="21" name="Rectangle 20"/>
          <p:cNvSpPr/>
          <p:nvPr/>
        </p:nvSpPr>
        <p:spPr>
          <a:xfrm>
            <a:off x="8548007" y="1809750"/>
            <a:ext cx="1507671"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662307" y="1885950"/>
            <a:ext cx="1279071" cy="269875"/>
          </a:xfrm>
          <a:prstGeom prst="rect">
            <a:avLst/>
          </a:prstGeom>
          <a:noFill/>
        </p:spPr>
        <p:txBody>
          <a:bodyPr wrap="square" lIns="0" rIns="0" tIns="0" bIns="0" anchor="t">
            <a:spAutoFit/>
          </a:bodyPr>
          <a:lstStyle/>
          <a:p>
            <a:pPr algn="l"/>
            <a:r>
              <a:rPr sz="1700" b="1" i="0">
                <a:solidFill>
                  <a:srgbClr val="0F2A4A"/>
                </a:solidFill>
                <a:latin typeface="Segoe UI"/>
              </a:rPr>
              <a:t>0.9796</a:t>
            </a:r>
          </a:p>
        </p:txBody>
      </p:sp>
      <p:sp>
        <p:nvSpPr>
          <p:cNvPr id="23" name="TextBox 22"/>
          <p:cNvSpPr txBox="1"/>
          <p:nvPr/>
        </p:nvSpPr>
        <p:spPr>
          <a:xfrm>
            <a:off x="8662307" y="2174875"/>
            <a:ext cx="1279071"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ROC-AUC</a:t>
            </a:r>
          </a:p>
        </p:txBody>
      </p:sp>
      <p:sp>
        <p:nvSpPr>
          <p:cNvPr id="24" name="Rectangle 23"/>
          <p:cNvSpPr/>
          <p:nvPr/>
        </p:nvSpPr>
        <p:spPr>
          <a:xfrm>
            <a:off x="10150929" y="1809750"/>
            <a:ext cx="1507671" cy="5905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65229" y="1885950"/>
            <a:ext cx="1279071" cy="269875"/>
          </a:xfrm>
          <a:prstGeom prst="rect">
            <a:avLst/>
          </a:prstGeom>
          <a:noFill/>
        </p:spPr>
        <p:txBody>
          <a:bodyPr wrap="square" lIns="0" rIns="0" tIns="0" bIns="0" anchor="t">
            <a:spAutoFit/>
          </a:bodyPr>
          <a:lstStyle/>
          <a:p>
            <a:pPr algn="l"/>
            <a:r>
              <a:rPr sz="1700" b="1" i="0">
                <a:solidFill>
                  <a:srgbClr val="0F2A4A"/>
                </a:solidFill>
                <a:latin typeface="Segoe UI"/>
              </a:rPr>
              <a:t>0.7821</a:t>
            </a:r>
          </a:p>
        </p:txBody>
      </p:sp>
      <p:sp>
        <p:nvSpPr>
          <p:cNvPr id="26" name="TextBox 25"/>
          <p:cNvSpPr txBox="1"/>
          <p:nvPr/>
        </p:nvSpPr>
        <p:spPr>
          <a:xfrm>
            <a:off x="10265229" y="2174875"/>
            <a:ext cx="1279071"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PR-AUC</a:t>
            </a:r>
          </a:p>
        </p:txBody>
      </p:sp>
      <p:sp>
        <p:nvSpPr>
          <p:cNvPr id="27" name="Rectangle 26"/>
          <p:cNvSpPr/>
          <p:nvPr/>
        </p:nvSpPr>
        <p:spPr>
          <a:xfrm>
            <a:off x="533400" y="2476500"/>
            <a:ext cx="3644900" cy="5143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7700" y="2552700"/>
            <a:ext cx="3416300" cy="269875"/>
          </a:xfrm>
          <a:prstGeom prst="rect">
            <a:avLst/>
          </a:prstGeom>
          <a:noFill/>
        </p:spPr>
        <p:txBody>
          <a:bodyPr wrap="square" lIns="0" rIns="0" tIns="0" bIns="0" anchor="t">
            <a:spAutoFit/>
          </a:bodyPr>
          <a:lstStyle/>
          <a:p>
            <a:pPr algn="l"/>
            <a:r>
              <a:rPr sz="1700" b="1" i="0">
                <a:solidFill>
                  <a:srgbClr val="0F2A4A"/>
                </a:solidFill>
                <a:latin typeface="Segoe UI"/>
              </a:rPr>
              <a:t>0.60</a:t>
            </a:r>
          </a:p>
        </p:txBody>
      </p:sp>
      <p:sp>
        <p:nvSpPr>
          <p:cNvPr id="29" name="TextBox 28"/>
          <p:cNvSpPr txBox="1"/>
          <p:nvPr/>
        </p:nvSpPr>
        <p:spPr>
          <a:xfrm>
            <a:off x="647700" y="2841625"/>
            <a:ext cx="341630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Referral threshold - locked, provenance-pinned</a:t>
            </a:r>
          </a:p>
        </p:txBody>
      </p:sp>
      <p:sp>
        <p:nvSpPr>
          <p:cNvPr id="30" name="Rectangle 29"/>
          <p:cNvSpPr/>
          <p:nvPr/>
        </p:nvSpPr>
        <p:spPr>
          <a:xfrm>
            <a:off x="4273550" y="2476500"/>
            <a:ext cx="3644900" cy="5143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387850" y="2552700"/>
            <a:ext cx="3416300" cy="269875"/>
          </a:xfrm>
          <a:prstGeom prst="rect">
            <a:avLst/>
          </a:prstGeom>
          <a:noFill/>
        </p:spPr>
        <p:txBody>
          <a:bodyPr wrap="square" lIns="0" rIns="0" tIns="0" bIns="0" anchor="t">
            <a:spAutoFit/>
          </a:bodyPr>
          <a:lstStyle/>
          <a:p>
            <a:pPr algn="l"/>
            <a:r>
              <a:rPr sz="1700" b="1" i="0">
                <a:solidFill>
                  <a:srgbClr val="0F2A4A"/>
                </a:solidFill>
                <a:latin typeface="Segoe UI"/>
              </a:rPr>
              <a:t>2.5382</a:t>
            </a:r>
          </a:p>
        </p:txBody>
      </p:sp>
      <p:sp>
        <p:nvSpPr>
          <p:cNvPr id="32" name="TextBox 31"/>
          <p:cNvSpPr txBox="1"/>
          <p:nvPr/>
        </p:nvSpPr>
        <p:spPr>
          <a:xfrm>
            <a:off x="4387850" y="2841625"/>
            <a:ext cx="341630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Calibration temperature - display-only</a:t>
            </a:r>
          </a:p>
        </p:txBody>
      </p:sp>
      <p:sp>
        <p:nvSpPr>
          <p:cNvPr id="33" name="Rectangle 32"/>
          <p:cNvSpPr/>
          <p:nvPr/>
        </p:nvSpPr>
        <p:spPr>
          <a:xfrm>
            <a:off x="8013700" y="2476500"/>
            <a:ext cx="3644900" cy="5143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128000" y="2552700"/>
            <a:ext cx="3416300" cy="269875"/>
          </a:xfrm>
          <a:prstGeom prst="rect">
            <a:avLst/>
          </a:prstGeom>
          <a:noFill/>
        </p:spPr>
        <p:txBody>
          <a:bodyPr wrap="square" lIns="0" rIns="0" tIns="0" bIns="0" anchor="t">
            <a:spAutoFit/>
          </a:bodyPr>
          <a:lstStyle/>
          <a:p>
            <a:pPr algn="l"/>
            <a:r>
              <a:rPr sz="1700" b="1" i="0">
                <a:solidFill>
                  <a:srgbClr val="0F2A4A"/>
                </a:solidFill>
                <a:latin typeface="Segoe UI"/>
              </a:rPr>
              <a:t>733</a:t>
            </a:r>
          </a:p>
        </p:txBody>
      </p:sp>
      <p:sp>
        <p:nvSpPr>
          <p:cNvPr id="35" name="TextBox 34"/>
          <p:cNvSpPr txBox="1"/>
          <p:nvPr/>
        </p:nvSpPr>
        <p:spPr>
          <a:xfrm>
            <a:off x="8128000" y="2841625"/>
            <a:ext cx="341630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Validation images (2,929 train, seed 42)</a:t>
            </a:r>
          </a:p>
        </p:txBody>
      </p:sp>
      <p:sp>
        <p:nvSpPr>
          <p:cNvPr id="36" name="TextBox 35"/>
          <p:cNvSpPr txBox="1"/>
          <p:nvPr/>
        </p:nvSpPr>
        <p:spPr>
          <a:xfrm>
            <a:off x="533400" y="3124200"/>
            <a:ext cx="11125200" cy="190500"/>
          </a:xfrm>
          <a:prstGeom prst="rect">
            <a:avLst/>
          </a:prstGeom>
          <a:noFill/>
        </p:spPr>
        <p:txBody>
          <a:bodyPr wrap="square" lIns="0" rIns="0" tIns="0" bIns="0" anchor="t">
            <a:spAutoFit/>
          </a:bodyPr>
          <a:lstStyle/>
          <a:p>
            <a:pPr algn="l"/>
            <a:r>
              <a:rPr sz="950" b="1" i="0">
                <a:solidFill>
                  <a:srgbClr val="7C8B9A"/>
                </a:solidFill>
                <a:latin typeface="Segoe UI"/>
              </a:rPr>
              <a:t>PER-CLASS RECALL - WHERE THE WEAKNESS IS</a:t>
            </a:r>
          </a:p>
        </p:txBody>
      </p:sp>
      <p:sp>
        <p:nvSpPr>
          <p:cNvPr id="37" name="Rectangle 36"/>
          <p:cNvSpPr/>
          <p:nvPr/>
        </p:nvSpPr>
        <p:spPr>
          <a:xfrm>
            <a:off x="533400" y="3333750"/>
            <a:ext cx="2148840" cy="8001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7700" y="3409950"/>
            <a:ext cx="1920240" cy="254000"/>
          </a:xfrm>
          <a:prstGeom prst="rect">
            <a:avLst/>
          </a:prstGeom>
          <a:noFill/>
        </p:spPr>
        <p:txBody>
          <a:bodyPr wrap="square" lIns="0" rIns="0" tIns="0" bIns="0" anchor="t">
            <a:spAutoFit/>
          </a:bodyPr>
          <a:lstStyle/>
          <a:p>
            <a:pPr algn="l"/>
            <a:r>
              <a:rPr sz="1600" b="1" i="0">
                <a:solidFill>
                  <a:srgbClr val="0F2A4A"/>
                </a:solidFill>
                <a:latin typeface="Segoe UI"/>
              </a:rPr>
              <a:t>0.9834</a:t>
            </a:r>
          </a:p>
        </p:txBody>
      </p:sp>
      <p:sp>
        <p:nvSpPr>
          <p:cNvPr id="39" name="TextBox 38"/>
          <p:cNvSpPr txBox="1"/>
          <p:nvPr/>
        </p:nvSpPr>
        <p:spPr>
          <a:xfrm>
            <a:off x="647700" y="3683000"/>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No DR</a:t>
            </a:r>
          </a:p>
        </p:txBody>
      </p:sp>
      <p:sp>
        <p:nvSpPr>
          <p:cNvPr id="40" name="Rectangle 39"/>
          <p:cNvSpPr/>
          <p:nvPr/>
        </p:nvSpPr>
        <p:spPr>
          <a:xfrm>
            <a:off x="2777490" y="3333750"/>
            <a:ext cx="2148840" cy="8001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891790" y="3409950"/>
            <a:ext cx="1920240" cy="254000"/>
          </a:xfrm>
          <a:prstGeom prst="rect">
            <a:avLst/>
          </a:prstGeom>
          <a:noFill/>
        </p:spPr>
        <p:txBody>
          <a:bodyPr wrap="square" lIns="0" rIns="0" tIns="0" bIns="0" anchor="t">
            <a:spAutoFit/>
          </a:bodyPr>
          <a:lstStyle/>
          <a:p>
            <a:pPr algn="l"/>
            <a:r>
              <a:rPr sz="1600" b="1" i="0">
                <a:solidFill>
                  <a:srgbClr val="0F2A4A"/>
                </a:solidFill>
                <a:latin typeface="Segoe UI"/>
              </a:rPr>
              <a:t>0.6081</a:t>
            </a:r>
          </a:p>
        </p:txBody>
      </p:sp>
      <p:sp>
        <p:nvSpPr>
          <p:cNvPr id="42" name="TextBox 41"/>
          <p:cNvSpPr txBox="1"/>
          <p:nvPr/>
        </p:nvSpPr>
        <p:spPr>
          <a:xfrm>
            <a:off x="2891790" y="3683000"/>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Mild NPDR</a:t>
            </a:r>
          </a:p>
        </p:txBody>
      </p:sp>
      <p:sp>
        <p:nvSpPr>
          <p:cNvPr id="43" name="Rectangle 42"/>
          <p:cNvSpPr/>
          <p:nvPr/>
        </p:nvSpPr>
        <p:spPr>
          <a:xfrm>
            <a:off x="5021580" y="3333750"/>
            <a:ext cx="2148840" cy="8001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135880" y="3409950"/>
            <a:ext cx="1920240" cy="254000"/>
          </a:xfrm>
          <a:prstGeom prst="rect">
            <a:avLst/>
          </a:prstGeom>
          <a:noFill/>
        </p:spPr>
        <p:txBody>
          <a:bodyPr wrap="square" lIns="0" rIns="0" tIns="0" bIns="0" anchor="t">
            <a:spAutoFit/>
          </a:bodyPr>
          <a:lstStyle/>
          <a:p>
            <a:pPr algn="l"/>
            <a:r>
              <a:rPr sz="1600" b="1" i="0">
                <a:solidFill>
                  <a:srgbClr val="0F2A4A"/>
                </a:solidFill>
                <a:latin typeface="Segoe UI"/>
              </a:rPr>
              <a:t>0.7850</a:t>
            </a:r>
          </a:p>
        </p:txBody>
      </p:sp>
      <p:sp>
        <p:nvSpPr>
          <p:cNvPr id="45" name="TextBox 44"/>
          <p:cNvSpPr txBox="1"/>
          <p:nvPr/>
        </p:nvSpPr>
        <p:spPr>
          <a:xfrm>
            <a:off x="5135880" y="3683000"/>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Moderate NPDR</a:t>
            </a:r>
          </a:p>
        </p:txBody>
      </p:sp>
      <p:sp>
        <p:nvSpPr>
          <p:cNvPr id="46" name="Rectangle 45"/>
          <p:cNvSpPr/>
          <p:nvPr/>
        </p:nvSpPr>
        <p:spPr>
          <a:xfrm>
            <a:off x="7265670" y="3333750"/>
            <a:ext cx="2148840" cy="8001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379970" y="3409950"/>
            <a:ext cx="1920240" cy="254000"/>
          </a:xfrm>
          <a:prstGeom prst="rect">
            <a:avLst/>
          </a:prstGeom>
          <a:noFill/>
        </p:spPr>
        <p:txBody>
          <a:bodyPr wrap="square" lIns="0" rIns="0" tIns="0" bIns="0" anchor="t">
            <a:spAutoFit/>
          </a:bodyPr>
          <a:lstStyle/>
          <a:p>
            <a:pPr algn="l"/>
            <a:r>
              <a:rPr sz="1600" b="1" i="0">
                <a:solidFill>
                  <a:srgbClr val="B42B2B"/>
                </a:solidFill>
                <a:latin typeface="Segoe UI"/>
              </a:rPr>
              <a:t>0.4872</a:t>
            </a:r>
          </a:p>
        </p:txBody>
      </p:sp>
      <p:sp>
        <p:nvSpPr>
          <p:cNvPr id="48" name="TextBox 47"/>
          <p:cNvSpPr txBox="1"/>
          <p:nvPr/>
        </p:nvSpPr>
        <p:spPr>
          <a:xfrm>
            <a:off x="7379970" y="3683000"/>
            <a:ext cx="1920240" cy="3048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Severe NPDR - weak, main 5-class weakness</a:t>
            </a:r>
          </a:p>
        </p:txBody>
      </p:sp>
      <p:sp>
        <p:nvSpPr>
          <p:cNvPr id="49" name="Rectangle 48"/>
          <p:cNvSpPr/>
          <p:nvPr/>
        </p:nvSpPr>
        <p:spPr>
          <a:xfrm>
            <a:off x="9509760" y="3333750"/>
            <a:ext cx="2148840" cy="8001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624060" y="3409950"/>
            <a:ext cx="1920240" cy="254000"/>
          </a:xfrm>
          <a:prstGeom prst="rect">
            <a:avLst/>
          </a:prstGeom>
          <a:noFill/>
        </p:spPr>
        <p:txBody>
          <a:bodyPr wrap="square" lIns="0" rIns="0" tIns="0" bIns="0" anchor="t">
            <a:spAutoFit/>
          </a:bodyPr>
          <a:lstStyle/>
          <a:p>
            <a:pPr algn="l"/>
            <a:r>
              <a:rPr sz="1600" b="1" i="0">
                <a:solidFill>
                  <a:srgbClr val="B42B2B"/>
                </a:solidFill>
                <a:latin typeface="Segoe UI"/>
              </a:rPr>
              <a:t>0.5254</a:t>
            </a:r>
          </a:p>
        </p:txBody>
      </p:sp>
      <p:sp>
        <p:nvSpPr>
          <p:cNvPr id="51" name="TextBox 50"/>
          <p:cNvSpPr txBox="1"/>
          <p:nvPr/>
        </p:nvSpPr>
        <p:spPr>
          <a:xfrm>
            <a:off x="9624060" y="3683000"/>
            <a:ext cx="1920240" cy="3048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Proliferative DR - weak, experiments off</a:t>
            </a:r>
          </a:p>
        </p:txBody>
      </p:sp>
      <p:sp>
        <p:nvSpPr>
          <p:cNvPr id="52" name="TextBox 51"/>
          <p:cNvSpPr txBox="1"/>
          <p:nvPr/>
        </p:nvSpPr>
        <p:spPr>
          <a:xfrm>
            <a:off x="533400" y="4248150"/>
            <a:ext cx="11125200" cy="190500"/>
          </a:xfrm>
          <a:prstGeom prst="rect">
            <a:avLst/>
          </a:prstGeom>
          <a:noFill/>
        </p:spPr>
        <p:txBody>
          <a:bodyPr wrap="square" lIns="0" rIns="0" tIns="0" bIns="0" anchor="t">
            <a:spAutoFit/>
          </a:bodyPr>
          <a:lstStyle/>
          <a:p>
            <a:pPr algn="l"/>
            <a:r>
              <a:rPr sz="950" b="1" i="0">
                <a:solidFill>
                  <a:srgbClr val="7C8B9A"/>
                </a:solidFill>
                <a:latin typeface="Segoe UI"/>
              </a:rPr>
              <a:t>OPERATIONAL BEHAVIOUR, MEASURED</a:t>
            </a:r>
          </a:p>
        </p:txBody>
      </p:sp>
      <p:sp>
        <p:nvSpPr>
          <p:cNvPr id="53" name="Rectangle 52"/>
          <p:cNvSpPr/>
          <p:nvPr/>
        </p:nvSpPr>
        <p:spPr>
          <a:xfrm>
            <a:off x="533400" y="4457700"/>
            <a:ext cx="2148840" cy="5334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47700" y="4533900"/>
            <a:ext cx="1920240" cy="206375"/>
          </a:xfrm>
          <a:prstGeom prst="rect">
            <a:avLst/>
          </a:prstGeom>
          <a:noFill/>
        </p:spPr>
        <p:txBody>
          <a:bodyPr wrap="square" lIns="0" rIns="0" tIns="0" bIns="0" anchor="t">
            <a:spAutoFit/>
          </a:bodyPr>
          <a:lstStyle/>
          <a:p>
            <a:pPr algn="l"/>
            <a:r>
              <a:rPr sz="1300" b="1" i="0">
                <a:solidFill>
                  <a:srgbClr val="0F2A4A"/>
                </a:solidFill>
                <a:latin typeface="Segoe UI"/>
              </a:rPr>
              <a:t>65.48 / 26.68 / 7.84 %</a:t>
            </a:r>
          </a:p>
        </p:txBody>
      </p:sp>
      <p:sp>
        <p:nvSpPr>
          <p:cNvPr id="55" name="TextBox 54"/>
          <p:cNvSpPr txBox="1"/>
          <p:nvPr/>
        </p:nvSpPr>
        <p:spPr>
          <a:xfrm>
            <a:off x="647700" y="475932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Quality gate, n = 3,662</a:t>
            </a:r>
          </a:p>
        </p:txBody>
      </p:sp>
      <p:sp>
        <p:nvSpPr>
          <p:cNvPr id="56" name="Rectangle 55"/>
          <p:cNvSpPr/>
          <p:nvPr/>
        </p:nvSpPr>
        <p:spPr>
          <a:xfrm>
            <a:off x="2777490" y="4457700"/>
            <a:ext cx="2148840" cy="5334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2891790" y="4533900"/>
            <a:ext cx="1920240" cy="206375"/>
          </a:xfrm>
          <a:prstGeom prst="rect">
            <a:avLst/>
          </a:prstGeom>
          <a:noFill/>
        </p:spPr>
        <p:txBody>
          <a:bodyPr wrap="square" lIns="0" rIns="0" tIns="0" bIns="0" anchor="t">
            <a:spAutoFit/>
          </a:bodyPr>
          <a:lstStyle/>
          <a:p>
            <a:pPr algn="l"/>
            <a:r>
              <a:rPr sz="1300" b="1" i="0">
                <a:solidFill>
                  <a:srgbClr val="0F2A4A"/>
                </a:solidFill>
                <a:latin typeface="Segoe UI"/>
              </a:rPr>
              <a:t>648 / 75 / 10</a:t>
            </a:r>
          </a:p>
        </p:txBody>
      </p:sp>
      <p:sp>
        <p:nvSpPr>
          <p:cNvPr id="58" name="TextBox 57"/>
          <p:cNvSpPr txBox="1"/>
          <p:nvPr/>
        </p:nvSpPr>
        <p:spPr>
          <a:xfrm>
            <a:off x="2891790" y="475932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CLEAR / REVIEW / ABSTAIN</a:t>
            </a:r>
          </a:p>
        </p:txBody>
      </p:sp>
      <p:sp>
        <p:nvSpPr>
          <p:cNvPr id="59" name="Rectangle 58"/>
          <p:cNvSpPr/>
          <p:nvPr/>
        </p:nvSpPr>
        <p:spPr>
          <a:xfrm>
            <a:off x="5021580" y="4457700"/>
            <a:ext cx="2148840" cy="5334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5135880" y="4533900"/>
            <a:ext cx="1920240" cy="206375"/>
          </a:xfrm>
          <a:prstGeom prst="rect">
            <a:avLst/>
          </a:prstGeom>
          <a:noFill/>
        </p:spPr>
        <p:txBody>
          <a:bodyPr wrap="square" lIns="0" rIns="0" tIns="0" bIns="0" anchor="t">
            <a:spAutoFit/>
          </a:bodyPr>
          <a:lstStyle/>
          <a:p>
            <a:pPr algn="l"/>
            <a:r>
              <a:rPr sz="1300" b="1" i="0">
                <a:solidFill>
                  <a:srgbClr val="0F2A4A"/>
                </a:solidFill>
                <a:latin typeface="Segoe UI"/>
              </a:rPr>
              <a:t>34.22</a:t>
            </a:r>
          </a:p>
        </p:txBody>
      </p:sp>
      <p:sp>
        <p:nvSpPr>
          <p:cNvPr id="61" name="TextBox 60"/>
          <p:cNvSpPr txBox="1"/>
          <p:nvPr/>
        </p:nvSpPr>
        <p:spPr>
          <a:xfrm>
            <a:off x="5135880" y="475932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OOD bound (locked p99)</a:t>
            </a:r>
          </a:p>
        </p:txBody>
      </p:sp>
      <p:sp>
        <p:nvSpPr>
          <p:cNvPr id="62" name="Rectangle 61"/>
          <p:cNvSpPr/>
          <p:nvPr/>
        </p:nvSpPr>
        <p:spPr>
          <a:xfrm>
            <a:off x="7265670" y="4457700"/>
            <a:ext cx="2148840" cy="5334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379970" y="4533900"/>
            <a:ext cx="1920240" cy="206375"/>
          </a:xfrm>
          <a:prstGeom prst="rect">
            <a:avLst/>
          </a:prstGeom>
          <a:noFill/>
        </p:spPr>
        <p:txBody>
          <a:bodyPr wrap="square" lIns="0" rIns="0" tIns="0" bIns="0" anchor="t">
            <a:spAutoFit/>
          </a:bodyPr>
          <a:lstStyle/>
          <a:p>
            <a:pPr algn="l"/>
            <a:r>
              <a:rPr sz="1300" b="1" i="0">
                <a:solidFill>
                  <a:srgbClr val="0F2A4A"/>
                </a:solidFill>
                <a:latin typeface="Segoe UI"/>
              </a:rPr>
              <a:t>0.1028 s/img</a:t>
            </a:r>
          </a:p>
        </p:txBody>
      </p:sp>
      <p:sp>
        <p:nvSpPr>
          <p:cNvPr id="64" name="TextBox 63"/>
          <p:cNvSpPr txBox="1"/>
          <p:nvPr/>
        </p:nvSpPr>
        <p:spPr>
          <a:xfrm>
            <a:off x="7379970" y="475932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Model-only inference</a:t>
            </a:r>
          </a:p>
        </p:txBody>
      </p:sp>
      <p:sp>
        <p:nvSpPr>
          <p:cNvPr id="65" name="Rectangle 64"/>
          <p:cNvSpPr/>
          <p:nvPr/>
        </p:nvSpPr>
        <p:spPr>
          <a:xfrm>
            <a:off x="9509760" y="4457700"/>
            <a:ext cx="2148840" cy="5334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9624060" y="4533900"/>
            <a:ext cx="1920240" cy="206375"/>
          </a:xfrm>
          <a:prstGeom prst="rect">
            <a:avLst/>
          </a:prstGeom>
          <a:noFill/>
        </p:spPr>
        <p:txBody>
          <a:bodyPr wrap="square" lIns="0" rIns="0" tIns="0" bIns="0" anchor="t">
            <a:spAutoFit/>
          </a:bodyPr>
          <a:lstStyle/>
          <a:p>
            <a:pPr algn="l"/>
            <a:r>
              <a:rPr sz="1300" b="1" i="0">
                <a:solidFill>
                  <a:srgbClr val="0F2A4A"/>
                </a:solidFill>
                <a:latin typeface="Segoe UI"/>
              </a:rPr>
              <a:t>11.03 s/img</a:t>
            </a:r>
          </a:p>
        </p:txBody>
      </p:sp>
      <p:sp>
        <p:nvSpPr>
          <p:cNvPr id="67" name="TextBox 66"/>
          <p:cNvSpPr txBox="1"/>
          <p:nvPr/>
        </p:nvSpPr>
        <p:spPr>
          <a:xfrm>
            <a:off x="9624060" y="475932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Full demo path, median</a:t>
            </a:r>
          </a:p>
        </p:txBody>
      </p:sp>
      <p:sp>
        <p:nvSpPr>
          <p:cNvPr id="68" name="TextBox 67"/>
          <p:cNvSpPr txBox="1"/>
          <p:nvPr/>
        </p:nvSpPr>
        <p:spPr>
          <a:xfrm>
            <a:off x="533400" y="5086350"/>
            <a:ext cx="8572500" cy="171450"/>
          </a:xfrm>
          <a:prstGeom prst="rect">
            <a:avLst/>
          </a:prstGeom>
          <a:noFill/>
        </p:spPr>
        <p:txBody>
          <a:bodyPr wrap="square" lIns="0" rIns="0" tIns="0" bIns="0" anchor="t">
            <a:spAutoFit/>
          </a:bodyPr>
          <a:lstStyle/>
          <a:p>
            <a:pPr algn="l"/>
            <a:r>
              <a:rPr sz="850" b="0" i="1">
                <a:solidFill>
                  <a:srgbClr val="7C8B9A"/>
                </a:solidFill>
                <a:latin typeface="Segoe UI"/>
              </a:rPr>
              <a:t>Verdict on APTOS validation: internal, single-dataset.</a:t>
            </a:r>
          </a:p>
        </p:txBody>
      </p:sp>
      <p:sp>
        <p:nvSpPr>
          <p:cNvPr id="69" name="TextBox 68"/>
          <p:cNvSpPr txBox="1"/>
          <p:nvPr/>
        </p:nvSpPr>
        <p:spPr>
          <a:xfrm>
            <a:off x="533400" y="5353050"/>
            <a:ext cx="11125200" cy="419100"/>
          </a:xfrm>
          <a:prstGeom prst="rect">
            <a:avLst/>
          </a:prstGeom>
          <a:noFill/>
        </p:spPr>
        <p:txBody>
          <a:bodyPr wrap="square" lIns="0" rIns="0" tIns="0" bIns="0" anchor="t">
            <a:spAutoFit/>
          </a:bodyPr>
          <a:lstStyle/>
          <a:p>
            <a:pPr algn="l">
              <a:lnSpc>
                <a:spcPct val="140000"/>
              </a:lnSpc>
            </a:pPr>
            <a:r>
              <a:rPr sz="900" b="0" i="0">
                <a:solidFill>
                  <a:srgbClr val="7C8B9A"/>
                </a:solidFill>
                <a:latin typeface="Segoe UI"/>
              </a:rPr>
              <a:t>The two latency figures are deliberately not conflated: 0.1028 s/img is model screening only, 11.03 s/img is the complete demo path. High-resolution fundus photographs are slower again - a judge supplying a full-resolution image should expect roughly 30-45 s.</a:t>
            </a:r>
          </a:p>
        </p:txBody>
      </p:sp>
      <p:sp>
        <p:nvSpPr>
          <p:cNvPr id="70" name="Rectangle 69"/>
          <p:cNvSpPr/>
          <p:nvPr/>
        </p:nvSpPr>
        <p:spPr>
          <a:xfrm>
            <a:off x="533400" y="6419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533400" y="6496050"/>
            <a:ext cx="10744200" cy="247650"/>
          </a:xfrm>
          <a:prstGeom prst="rect">
            <a:avLst/>
          </a:prstGeom>
          <a:noFill/>
        </p:spPr>
        <p:txBody>
          <a:bodyPr wrap="square" lIns="0" rIns="0" tIns="0" bIns="0" anchor="t">
            <a:spAutoFit/>
          </a:bodyPr>
          <a:lstStyle/>
          <a:p>
            <a:pPr algn="l">
              <a:lnSpc>
                <a:spcPct val="125000"/>
              </a:lnSpc>
            </a:pPr>
            <a:r>
              <a:rPr sz="750" b="0" i="0">
                <a:solidFill>
                  <a:srgbClr val="7C8B9A"/>
                </a:solidFill>
                <a:latin typeface="Segoe UI"/>
              </a:rPr>
              <a:t>Engineering prototype. APTOS-internal held-out validation only; external validation is not performed. Not a clinical device, not for diagnosis or treatment decisions.</a:t>
            </a:r>
          </a:p>
        </p:txBody>
      </p:sp>
      <p:sp>
        <p:nvSpPr>
          <p:cNvPr id="72" name="TextBox 71"/>
          <p:cNvSpPr txBox="1"/>
          <p:nvPr/>
        </p:nvSpPr>
        <p:spPr>
          <a:xfrm>
            <a:off x="11372850" y="6496050"/>
            <a:ext cx="285750" cy="133350"/>
          </a:xfrm>
          <a:prstGeom prst="rect">
            <a:avLst/>
          </a:prstGeom>
          <a:noFill/>
        </p:spPr>
        <p:txBody>
          <a:bodyPr wrap="square" lIns="0" rIns="0" tIns="0" bIns="0" anchor="t">
            <a:spAutoFit/>
          </a:bodyPr>
          <a:lstStyle/>
          <a:p>
            <a:pPr algn="l"/>
            <a:r>
              <a:rPr sz="850" b="1" i="0">
                <a:solidFill>
                  <a:srgbClr val="7C8B9A"/>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61950"/>
            <a:ext cx="11125200" cy="171450"/>
          </a:xfrm>
          <a:prstGeom prst="rect">
            <a:avLst/>
          </a:prstGeom>
          <a:noFill/>
        </p:spPr>
        <p:txBody>
          <a:bodyPr wrap="square" lIns="0" rIns="0" tIns="0" bIns="0" anchor="t">
            <a:spAutoFit/>
          </a:bodyPr>
          <a:lstStyle/>
          <a:p>
            <a:pPr algn="l"/>
            <a:r>
              <a:rPr sz="1050" b="1" i="0">
                <a:solidFill>
                  <a:srgbClr val="7C8B9A"/>
                </a:solidFill>
                <a:latin typeface="Segoe UI"/>
              </a:rPr>
              <a:t>THE DIFFERENTIATOR</a:t>
            </a:r>
          </a:p>
        </p:txBody>
      </p:sp>
      <p:sp>
        <p:nvSpPr>
          <p:cNvPr id="3" name="TextBox 2"/>
          <p:cNvSpPr txBox="1"/>
          <p:nvPr/>
        </p:nvSpPr>
        <p:spPr>
          <a:xfrm>
            <a:off x="533400" y="552450"/>
            <a:ext cx="11125200" cy="762000"/>
          </a:xfrm>
          <a:prstGeom prst="rect">
            <a:avLst/>
          </a:prstGeom>
          <a:noFill/>
        </p:spPr>
        <p:txBody>
          <a:bodyPr wrap="square" lIns="0" rIns="0" tIns="0" bIns="0" anchor="t">
            <a:spAutoFit/>
          </a:bodyPr>
          <a:lstStyle/>
          <a:p>
            <a:pPr algn="l">
              <a:lnSpc>
                <a:spcPct val="110000"/>
              </a:lnSpc>
            </a:pPr>
            <a:r>
              <a:rPr sz="2300" b="1">
                <a:solidFill>
                  <a:srgbClr val="0F2A4A"/>
                </a:solidFill>
                <a:latin typeface="Segoe UI"/>
              </a:rPr>
              <a:t>It refuses. We tested that on </a:t>
            </a:r>
            <a:r>
              <a:rPr sz="2300" b="0">
                <a:solidFill>
                  <a:srgbClr val="7C8B9A"/>
                </a:solidFill>
                <a:latin typeface="Segoe UI"/>
              </a:rPr>
              <a:t>images it had never seen</a:t>
            </a:r>
          </a:p>
        </p:txBody>
      </p:sp>
      <p:sp>
        <p:nvSpPr>
          <p:cNvPr id="4" name="Rectangle 3"/>
          <p:cNvSpPr/>
          <p:nvPr/>
        </p:nvSpPr>
        <p:spPr>
          <a:xfrm>
            <a:off x="533400" y="13525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3400" y="1543050"/>
            <a:ext cx="11125200" cy="422275"/>
          </a:xfrm>
          <a:prstGeom prst="rect">
            <a:avLst/>
          </a:prstGeom>
          <a:noFill/>
        </p:spPr>
        <p:txBody>
          <a:bodyPr wrap="square" lIns="0" rIns="0" tIns="0" bIns="0" anchor="t">
            <a:spAutoFit/>
          </a:bodyPr>
          <a:lstStyle/>
          <a:p>
            <a:pPr algn="l">
              <a:lnSpc>
                <a:spcPct val="140000"/>
              </a:lnSpc>
            </a:pPr>
            <a:r>
              <a:rPr sz="950" b="0" i="0">
                <a:solidFill>
                  <a:srgbClr val="40505F"/>
                </a:solidFill>
                <a:latin typeface="Segoe UI"/>
              </a:rPr>
              <a:t>Every automated check in this project had run on the same split the champions were selected on. We then ran the full pipeline end to end on 19 unseen fundus images from three foreign cameras - DRIVE test, the IDRiD B testing set, and real-world web fundus from DRIMDB. Nothing was retrained or tuned, the 0.60 rule was untouched, and the model hashes are unchanged.</a:t>
            </a:r>
          </a:p>
        </p:txBody>
      </p:sp>
      <p:sp>
        <p:nvSpPr>
          <p:cNvPr id="6" name="Rectangle 5"/>
          <p:cNvSpPr/>
          <p:nvPr/>
        </p:nvSpPr>
        <p:spPr>
          <a:xfrm>
            <a:off x="533400" y="1905000"/>
            <a:ext cx="2709862" cy="8382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7700" y="1981200"/>
            <a:ext cx="2481262" cy="317500"/>
          </a:xfrm>
          <a:prstGeom prst="rect">
            <a:avLst/>
          </a:prstGeom>
          <a:noFill/>
        </p:spPr>
        <p:txBody>
          <a:bodyPr wrap="square" lIns="0" rIns="0" tIns="0" bIns="0" anchor="t">
            <a:spAutoFit/>
          </a:bodyPr>
          <a:lstStyle/>
          <a:p>
            <a:pPr algn="l"/>
            <a:r>
              <a:rPr sz="2000" b="1" i="0">
                <a:solidFill>
                  <a:srgbClr val="0F2A4A"/>
                </a:solidFill>
                <a:latin typeface="Segoe UI"/>
              </a:rPr>
              <a:t>19 / 19</a:t>
            </a:r>
          </a:p>
        </p:txBody>
      </p:sp>
      <p:sp>
        <p:nvSpPr>
          <p:cNvPr id="8" name="TextBox 7"/>
          <p:cNvSpPr txBox="1"/>
          <p:nvPr/>
        </p:nvSpPr>
        <p:spPr>
          <a:xfrm>
            <a:off x="647700" y="2317750"/>
            <a:ext cx="2481262"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completed. No crash, no unhandled exception.</a:t>
            </a:r>
          </a:p>
        </p:txBody>
      </p:sp>
      <p:sp>
        <p:nvSpPr>
          <p:cNvPr id="9" name="Rectangle 8"/>
          <p:cNvSpPr/>
          <p:nvPr/>
        </p:nvSpPr>
        <p:spPr>
          <a:xfrm>
            <a:off x="3338512" y="1905000"/>
            <a:ext cx="2709862" cy="8382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52812" y="1981200"/>
            <a:ext cx="2481262" cy="317500"/>
          </a:xfrm>
          <a:prstGeom prst="rect">
            <a:avLst/>
          </a:prstGeom>
          <a:noFill/>
        </p:spPr>
        <p:txBody>
          <a:bodyPr wrap="square" lIns="0" rIns="0" tIns="0" bIns="0" anchor="t">
            <a:spAutoFit/>
          </a:bodyPr>
          <a:lstStyle/>
          <a:p>
            <a:pPr algn="l"/>
            <a:r>
              <a:rPr sz="2000" b="1" i="0">
                <a:solidFill>
                  <a:srgbClr val="0F2A4A"/>
                </a:solidFill>
                <a:latin typeface="Segoe UI"/>
              </a:rPr>
              <a:t>4 / 4</a:t>
            </a:r>
          </a:p>
        </p:txBody>
      </p:sp>
      <p:sp>
        <p:nvSpPr>
          <p:cNvPr id="11" name="TextBox 10"/>
          <p:cNvSpPr txBox="1"/>
          <p:nvPr/>
        </p:nvSpPr>
        <p:spPr>
          <a:xfrm>
            <a:off x="3452812" y="2317750"/>
            <a:ext cx="2481262" cy="4572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contract checks PASS: valid route band, quality FAIL never auto-answered, locked 0.60 rule still holds.</a:t>
            </a:r>
          </a:p>
        </p:txBody>
      </p:sp>
      <p:sp>
        <p:nvSpPr>
          <p:cNvPr id="12" name="Rectangle 11"/>
          <p:cNvSpPr/>
          <p:nvPr/>
        </p:nvSpPr>
        <p:spPr>
          <a:xfrm>
            <a:off x="6143625" y="1905000"/>
            <a:ext cx="2709862" cy="8382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57925" y="1981200"/>
            <a:ext cx="2481262" cy="317500"/>
          </a:xfrm>
          <a:prstGeom prst="rect">
            <a:avLst/>
          </a:prstGeom>
          <a:noFill/>
        </p:spPr>
        <p:txBody>
          <a:bodyPr wrap="square" lIns="0" rIns="0" tIns="0" bIns="0" anchor="t">
            <a:spAutoFit/>
          </a:bodyPr>
          <a:lstStyle/>
          <a:p>
            <a:pPr algn="l"/>
            <a:r>
              <a:rPr sz="2000" b="1" i="0">
                <a:solidFill>
                  <a:srgbClr val="0F2A4A"/>
                </a:solidFill>
                <a:latin typeface="Segoe UI"/>
              </a:rPr>
              <a:t>8</a:t>
            </a:r>
          </a:p>
        </p:txBody>
      </p:sp>
      <p:sp>
        <p:nvSpPr>
          <p:cNvPr id="14" name="TextBox 13"/>
          <p:cNvSpPr txBox="1"/>
          <p:nvPr/>
        </p:nvSpPr>
        <p:spPr>
          <a:xfrm>
            <a:off x="6257925" y="2317750"/>
            <a:ext cx="2481262" cy="3048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quality FAIL images - every one withheld before any model execution.</a:t>
            </a:r>
          </a:p>
        </p:txBody>
      </p:sp>
      <p:sp>
        <p:nvSpPr>
          <p:cNvPr id="15" name="Rectangle 14"/>
          <p:cNvSpPr/>
          <p:nvPr/>
        </p:nvSpPr>
        <p:spPr>
          <a:xfrm>
            <a:off x="8948738" y="1905000"/>
            <a:ext cx="2709862" cy="8382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63038" y="1981200"/>
            <a:ext cx="2481262" cy="317500"/>
          </a:xfrm>
          <a:prstGeom prst="rect">
            <a:avLst/>
          </a:prstGeom>
          <a:noFill/>
        </p:spPr>
        <p:txBody>
          <a:bodyPr wrap="square" lIns="0" rIns="0" tIns="0" bIns="0" anchor="t">
            <a:spAutoFit/>
          </a:bodyPr>
          <a:lstStyle/>
          <a:p>
            <a:pPr algn="l"/>
            <a:r>
              <a:rPr sz="2000" b="1" i="0">
                <a:solidFill>
                  <a:srgbClr val="0F2A4A"/>
                </a:solidFill>
                <a:latin typeface="Segoe UI"/>
              </a:rPr>
              <a:t>42%</a:t>
            </a:r>
          </a:p>
        </p:txBody>
      </p:sp>
      <p:sp>
        <p:nvSpPr>
          <p:cNvPr id="17" name="TextBox 16"/>
          <p:cNvSpPr txBox="1"/>
          <p:nvPr/>
        </p:nvSpPr>
        <p:spPr>
          <a:xfrm>
            <a:off x="9063038" y="2317750"/>
            <a:ext cx="2481262" cy="3048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of unseen images withheld, against 7.84% FAIL on APTOS. The gate over-rejects foreign cameras.</a:t>
            </a:r>
          </a:p>
        </p:txBody>
      </p:sp>
      <p:sp>
        <p:nvSpPr>
          <p:cNvPr id="18" name="Rectangle 17"/>
          <p:cNvSpPr/>
          <p:nvPr/>
        </p:nvSpPr>
        <p:spPr>
          <a:xfrm>
            <a:off x="533400" y="2819400"/>
            <a:ext cx="28575" cy="522288"/>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7700" y="2819400"/>
            <a:ext cx="5715000" cy="152400"/>
          </a:xfrm>
          <a:prstGeom prst="rect">
            <a:avLst/>
          </a:prstGeom>
          <a:noFill/>
        </p:spPr>
        <p:txBody>
          <a:bodyPr wrap="square" lIns="0" rIns="0" tIns="0" bIns="0" anchor="t">
            <a:spAutoFit/>
          </a:bodyPr>
          <a:lstStyle/>
          <a:p>
            <a:pPr algn="l"/>
            <a:r>
              <a:rPr sz="950" b="1" i="0">
                <a:solidFill>
                  <a:srgbClr val="0F2A4A"/>
                </a:solidFill>
                <a:latin typeface="Segoe UI"/>
              </a:rPr>
              <a:t>The safety contract is not an APTOS artefact.</a:t>
            </a:r>
          </a:p>
        </p:txBody>
      </p:sp>
      <p:sp>
        <p:nvSpPr>
          <p:cNvPr id="20" name="TextBox 19"/>
          <p:cNvSpPr txBox="1"/>
          <p:nvPr/>
        </p:nvSpPr>
        <p:spPr>
          <a:xfrm>
            <a:off x="647700" y="2990850"/>
            <a:ext cx="5715000" cy="350838"/>
          </a:xfrm>
          <a:prstGeom prst="rect">
            <a:avLst/>
          </a:prstGeom>
          <a:noFill/>
        </p:spPr>
        <p:txBody>
          <a:bodyPr wrap="square" lIns="0" rIns="0" tIns="0" bIns="0" anchor="t">
            <a:spAutoFit/>
          </a:bodyPr>
          <a:lstStyle/>
          <a:p>
            <a:pPr algn="l">
              <a:lnSpc>
                <a:spcPct val="130000"/>
              </a:lnSpc>
            </a:pPr>
            <a:r>
              <a:rPr sz="850" b="0" i="0">
                <a:solidFill>
                  <a:srgbClr val="40505F"/>
                </a:solidFill>
                <a:latin typeface="Segoe UI"/>
              </a:rPr>
              <a:t>Every quality FAIL was withheld before the model ran, and the locked decision rule was reproduced on every image that did reach the classifier.</a:t>
            </a:r>
          </a:p>
        </p:txBody>
      </p:sp>
      <p:sp>
        <p:nvSpPr>
          <p:cNvPr id="21" name="Rectangle 20"/>
          <p:cNvSpPr/>
          <p:nvPr/>
        </p:nvSpPr>
        <p:spPr>
          <a:xfrm>
            <a:off x="533400" y="3436938"/>
            <a:ext cx="28575" cy="522288"/>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7700" y="3436938"/>
            <a:ext cx="5715000" cy="152400"/>
          </a:xfrm>
          <a:prstGeom prst="rect">
            <a:avLst/>
          </a:prstGeom>
          <a:noFill/>
        </p:spPr>
        <p:txBody>
          <a:bodyPr wrap="square" lIns="0" rIns="0" tIns="0" bIns="0" anchor="t">
            <a:spAutoFit/>
          </a:bodyPr>
          <a:lstStyle/>
          <a:p>
            <a:pPr algn="l"/>
            <a:r>
              <a:rPr sz="950" b="1" i="0">
                <a:solidFill>
                  <a:srgbClr val="0F2A4A"/>
                </a:solidFill>
                <a:latin typeface="Segoe UI"/>
              </a:rPr>
              <a:t>The OOD detector genuinely fires out of distribution.</a:t>
            </a:r>
          </a:p>
        </p:txBody>
      </p:sp>
      <p:sp>
        <p:nvSpPr>
          <p:cNvPr id="23" name="TextBox 22"/>
          <p:cNvSpPr txBox="1"/>
          <p:nvPr/>
        </p:nvSpPr>
        <p:spPr>
          <a:xfrm>
            <a:off x="647700" y="3608388"/>
            <a:ext cx="5715000" cy="350838"/>
          </a:xfrm>
          <a:prstGeom prst="rect">
            <a:avLst/>
          </a:prstGeom>
          <a:noFill/>
        </p:spPr>
        <p:txBody>
          <a:bodyPr wrap="square" lIns="0" rIns="0" tIns="0" bIns="0" anchor="t">
            <a:spAutoFit/>
          </a:bodyPr>
          <a:lstStyle/>
          <a:p>
            <a:pPr algn="l">
              <a:lnSpc>
                <a:spcPct val="130000"/>
              </a:lnSpc>
            </a:pPr>
            <a:r>
              <a:rPr sz="850" b="0" i="0">
                <a:solidFill>
                  <a:srgbClr val="40505F"/>
                </a:solidFill>
                <a:latin typeface="Segoe UI"/>
              </a:rPr>
              <a:t>It flagged unseen images above its locked 34.22 bound. It remains advisory only and altered no route in this run.</a:t>
            </a:r>
          </a:p>
        </p:txBody>
      </p:sp>
      <p:sp>
        <p:nvSpPr>
          <p:cNvPr id="24" name="Rectangle 23"/>
          <p:cNvSpPr/>
          <p:nvPr/>
        </p:nvSpPr>
        <p:spPr>
          <a:xfrm>
            <a:off x="533400" y="4054475"/>
            <a:ext cx="28575" cy="522288"/>
          </a:xfrm>
          <a:prstGeom prst="rect">
            <a:avLst/>
          </a:prstGeom>
          <a:solidFill>
            <a:srgbClr val="106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7700" y="4054475"/>
            <a:ext cx="5715000" cy="152400"/>
          </a:xfrm>
          <a:prstGeom prst="rect">
            <a:avLst/>
          </a:prstGeom>
          <a:noFill/>
        </p:spPr>
        <p:txBody>
          <a:bodyPr wrap="square" lIns="0" rIns="0" tIns="0" bIns="0" anchor="t">
            <a:spAutoFit/>
          </a:bodyPr>
          <a:lstStyle/>
          <a:p>
            <a:pPr algn="l"/>
            <a:r>
              <a:rPr sz="950" b="1" i="0">
                <a:solidFill>
                  <a:srgbClr val="0F2A4A"/>
                </a:solidFill>
                <a:latin typeface="Segoe UI"/>
              </a:rPr>
              <a:t>Over-refusal is the safe direction to fail.</a:t>
            </a:r>
          </a:p>
        </p:txBody>
      </p:sp>
      <p:sp>
        <p:nvSpPr>
          <p:cNvPr id="26" name="TextBox 25"/>
          <p:cNvSpPr txBox="1"/>
          <p:nvPr/>
        </p:nvSpPr>
        <p:spPr>
          <a:xfrm>
            <a:off x="647700" y="4225925"/>
            <a:ext cx="5715000" cy="350838"/>
          </a:xfrm>
          <a:prstGeom prst="rect">
            <a:avLst/>
          </a:prstGeom>
          <a:noFill/>
        </p:spPr>
        <p:txBody>
          <a:bodyPr wrap="square" lIns="0" rIns="0" tIns="0" bIns="0" anchor="t">
            <a:spAutoFit/>
          </a:bodyPr>
          <a:lstStyle/>
          <a:p>
            <a:pPr algn="l">
              <a:lnSpc>
                <a:spcPct val="130000"/>
              </a:lnSpc>
            </a:pPr>
            <a:r>
              <a:rPr sz="850" b="0" i="0">
                <a:solidFill>
                  <a:srgbClr val="40505F"/>
                </a:solidFill>
                <a:latin typeface="Segoe UI"/>
              </a:rPr>
              <a:t>A withheld image is never auto-answered. Expect “AI grading skipped, please recapture” - that is the designed behaviour.</a:t>
            </a:r>
          </a:p>
        </p:txBody>
      </p:sp>
      <p:sp>
        <p:nvSpPr>
          <p:cNvPr id="27" name="Rectangle 26"/>
          <p:cNvSpPr/>
          <p:nvPr/>
        </p:nvSpPr>
        <p:spPr>
          <a:xfrm>
            <a:off x="533400" y="4672013"/>
            <a:ext cx="28575" cy="697706"/>
          </a:xfrm>
          <a:prstGeom prst="rect">
            <a:avLst/>
          </a:prstGeom>
          <a:solidFill>
            <a:srgbClr val="B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7700" y="4672013"/>
            <a:ext cx="5715000" cy="152400"/>
          </a:xfrm>
          <a:prstGeom prst="rect">
            <a:avLst/>
          </a:prstGeom>
          <a:noFill/>
        </p:spPr>
        <p:txBody>
          <a:bodyPr wrap="square" lIns="0" rIns="0" tIns="0" bIns="0" anchor="t">
            <a:spAutoFit/>
          </a:bodyPr>
          <a:lstStyle/>
          <a:p>
            <a:pPr algn="l"/>
            <a:r>
              <a:rPr sz="950" b="1" i="0">
                <a:solidFill>
                  <a:srgbClr val="0F2A4A"/>
                </a:solidFill>
                <a:latin typeface="Segoe UI"/>
              </a:rPr>
              <a:t>The honest negative finding.</a:t>
            </a:r>
          </a:p>
        </p:txBody>
      </p:sp>
      <p:sp>
        <p:nvSpPr>
          <p:cNvPr id="29" name="TextBox 28"/>
          <p:cNvSpPr txBox="1"/>
          <p:nvPr/>
        </p:nvSpPr>
        <p:spPr>
          <a:xfrm>
            <a:off x="647700" y="4843463"/>
            <a:ext cx="5715000" cy="526256"/>
          </a:xfrm>
          <a:prstGeom prst="rect">
            <a:avLst/>
          </a:prstGeom>
          <a:noFill/>
        </p:spPr>
        <p:txBody>
          <a:bodyPr wrap="square" lIns="0" rIns="0" tIns="0" bIns="0" anchor="t">
            <a:spAutoFit/>
          </a:bodyPr>
          <a:lstStyle/>
          <a:p>
            <a:pPr algn="l">
              <a:lnSpc>
                <a:spcPct val="130000"/>
              </a:lnSpc>
            </a:pPr>
            <a:r>
              <a:rPr sz="850" b="0" i="0">
                <a:solidFill>
                  <a:srgbClr val="40505F"/>
                </a:solidFill>
                <a:latin typeface="Segoe UI"/>
              </a:rPr>
              <a:t>One DRIMDB image the dataset itself labels as ungradable passed the quality gate and came back a confident referable grade, routed CLEAR, with its OOD distance just under the bound. Neither gate caught it, and we are not tuning it away - the threshold and the OOD bound are provenance-pinned.</a:t>
            </a:r>
          </a:p>
        </p:txBody>
      </p:sp>
      <p:sp>
        <p:nvSpPr>
          <p:cNvPr id="30" name="Rectangle 29"/>
          <p:cNvSpPr/>
          <p:nvPr/>
        </p:nvSpPr>
        <p:spPr>
          <a:xfrm>
            <a:off x="6286500" y="2819400"/>
            <a:ext cx="5372100" cy="5334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19850" y="2914650"/>
            <a:ext cx="1143000" cy="171450"/>
          </a:xfrm>
          <a:prstGeom prst="rect">
            <a:avLst/>
          </a:prstGeom>
          <a:noFill/>
        </p:spPr>
        <p:txBody>
          <a:bodyPr wrap="square" lIns="0" rIns="0" tIns="0" bIns="0" anchor="t">
            <a:spAutoFit/>
          </a:bodyPr>
          <a:lstStyle/>
          <a:p>
            <a:pPr algn="l"/>
            <a:r>
              <a:rPr sz="1000" b="1" i="0">
                <a:solidFill>
                  <a:srgbClr val="10656D"/>
                </a:solidFill>
                <a:latin typeface="Segoe UI"/>
              </a:rPr>
              <a:t>PASS</a:t>
            </a:r>
          </a:p>
        </p:txBody>
      </p:sp>
      <p:sp>
        <p:nvSpPr>
          <p:cNvPr id="32" name="TextBox 31"/>
          <p:cNvSpPr txBox="1"/>
          <p:nvPr/>
        </p:nvSpPr>
        <p:spPr>
          <a:xfrm>
            <a:off x="6419850" y="3105150"/>
            <a:ext cx="5105400" cy="190500"/>
          </a:xfrm>
          <a:prstGeom prst="rect">
            <a:avLst/>
          </a:prstGeom>
          <a:noFill/>
        </p:spPr>
        <p:txBody>
          <a:bodyPr wrap="square" lIns="0" rIns="0" tIns="0" bIns="0" anchor="t">
            <a:spAutoFit/>
          </a:bodyPr>
          <a:lstStyle/>
          <a:p>
            <a:pPr algn="l"/>
            <a:r>
              <a:rPr sz="850" b="0" i="0">
                <a:solidFill>
                  <a:srgbClr val="40505F"/>
                </a:solidFill>
                <a:latin typeface="Segoe UI"/>
              </a:rPr>
              <a:t>graded and routed, with confidence and evidence.</a:t>
            </a:r>
          </a:p>
        </p:txBody>
      </p:sp>
      <p:pic>
        <p:nvPicPr>
          <p:cNvPr id="33" name="Picture 32" descr="02_PASS_dashboard.png"/>
          <p:cNvPicPr>
            <a:picLocks noChangeAspect="1"/>
          </p:cNvPicPr>
          <p:nvPr/>
        </p:nvPicPr>
        <p:blipFill>
          <a:blip r:embed="rId2"/>
          <a:stretch>
            <a:fillRect/>
          </a:stretch>
        </p:blipFill>
        <p:spPr>
          <a:xfrm>
            <a:off x="10382250" y="2857500"/>
            <a:ext cx="1238250" cy="457200"/>
          </a:xfrm>
          <a:prstGeom prst="rect">
            <a:avLst/>
          </a:prstGeom>
        </p:spPr>
      </p:pic>
      <p:sp>
        <p:nvSpPr>
          <p:cNvPr id="34" name="Rectangle 33"/>
          <p:cNvSpPr/>
          <p:nvPr/>
        </p:nvSpPr>
        <p:spPr>
          <a:xfrm>
            <a:off x="6286500" y="3409950"/>
            <a:ext cx="5372100" cy="5334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19850" y="3505200"/>
            <a:ext cx="1143000" cy="171450"/>
          </a:xfrm>
          <a:prstGeom prst="rect">
            <a:avLst/>
          </a:prstGeom>
          <a:noFill/>
        </p:spPr>
        <p:txBody>
          <a:bodyPr wrap="square" lIns="0" rIns="0" tIns="0" bIns="0" anchor="t">
            <a:spAutoFit/>
          </a:bodyPr>
          <a:lstStyle/>
          <a:p>
            <a:pPr algn="l"/>
            <a:r>
              <a:rPr sz="1000" b="1" i="0">
                <a:solidFill>
                  <a:srgbClr val="8A6200"/>
                </a:solidFill>
                <a:latin typeface="Segoe UI"/>
              </a:rPr>
              <a:t>WARNING</a:t>
            </a:r>
          </a:p>
        </p:txBody>
      </p:sp>
      <p:sp>
        <p:nvSpPr>
          <p:cNvPr id="36" name="TextBox 35"/>
          <p:cNvSpPr txBox="1"/>
          <p:nvPr/>
        </p:nvSpPr>
        <p:spPr>
          <a:xfrm>
            <a:off x="6419850" y="3695700"/>
            <a:ext cx="5105400" cy="190500"/>
          </a:xfrm>
          <a:prstGeom prst="rect">
            <a:avLst/>
          </a:prstGeom>
          <a:noFill/>
        </p:spPr>
        <p:txBody>
          <a:bodyPr wrap="square" lIns="0" rIns="0" tIns="0" bIns="0" anchor="t">
            <a:spAutoFit/>
          </a:bodyPr>
          <a:lstStyle/>
          <a:p>
            <a:pPr algn="l"/>
            <a:r>
              <a:rPr sz="850" b="0" i="0">
                <a:solidFill>
                  <a:srgbClr val="40505F"/>
                </a:solidFill>
                <a:latin typeface="Segoe UI"/>
              </a:rPr>
              <a:t>proceeds, but flagged as borderline.</a:t>
            </a:r>
          </a:p>
        </p:txBody>
      </p:sp>
      <p:pic>
        <p:nvPicPr>
          <p:cNvPr id="37" name="Picture 36" descr="02_WARNING_dashboard.png"/>
          <p:cNvPicPr>
            <a:picLocks noChangeAspect="1"/>
          </p:cNvPicPr>
          <p:nvPr/>
        </p:nvPicPr>
        <p:blipFill>
          <a:blip r:embed="rId3"/>
          <a:stretch>
            <a:fillRect/>
          </a:stretch>
        </p:blipFill>
        <p:spPr>
          <a:xfrm>
            <a:off x="10382250" y="3448050"/>
            <a:ext cx="1238250" cy="457200"/>
          </a:xfrm>
          <a:prstGeom prst="rect">
            <a:avLst/>
          </a:prstGeom>
        </p:spPr>
      </p:pic>
      <p:sp>
        <p:nvSpPr>
          <p:cNvPr id="38" name="Rectangle 37"/>
          <p:cNvSpPr/>
          <p:nvPr/>
        </p:nvSpPr>
        <p:spPr>
          <a:xfrm>
            <a:off x="6286500" y="4000500"/>
            <a:ext cx="5372100" cy="5334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19850" y="4095750"/>
            <a:ext cx="1143000" cy="171450"/>
          </a:xfrm>
          <a:prstGeom prst="rect">
            <a:avLst/>
          </a:prstGeom>
          <a:noFill/>
        </p:spPr>
        <p:txBody>
          <a:bodyPr wrap="square" lIns="0" rIns="0" tIns="0" bIns="0" anchor="t">
            <a:spAutoFit/>
          </a:bodyPr>
          <a:lstStyle/>
          <a:p>
            <a:pPr algn="l"/>
            <a:r>
              <a:rPr sz="1000" b="1" i="0">
                <a:solidFill>
                  <a:srgbClr val="B42B2B"/>
                </a:solidFill>
                <a:latin typeface="Segoe UI"/>
              </a:rPr>
              <a:t>FAIL</a:t>
            </a:r>
          </a:p>
        </p:txBody>
      </p:sp>
      <p:sp>
        <p:nvSpPr>
          <p:cNvPr id="40" name="TextBox 39"/>
          <p:cNvSpPr txBox="1"/>
          <p:nvPr/>
        </p:nvSpPr>
        <p:spPr>
          <a:xfrm>
            <a:off x="6419850" y="4286250"/>
            <a:ext cx="5105400" cy="190500"/>
          </a:xfrm>
          <a:prstGeom prst="rect">
            <a:avLst/>
          </a:prstGeom>
          <a:noFill/>
        </p:spPr>
        <p:txBody>
          <a:bodyPr wrap="square" lIns="0" rIns="0" tIns="0" bIns="0" anchor="t">
            <a:spAutoFit/>
          </a:bodyPr>
          <a:lstStyle/>
          <a:p>
            <a:pPr algn="l"/>
            <a:r>
              <a:rPr sz="850" b="0" i="0">
                <a:solidFill>
                  <a:srgbClr val="40505F"/>
                </a:solidFill>
                <a:latin typeface="Segoe UI"/>
              </a:rPr>
              <a:t>AI grading skipped; the model is never called.</a:t>
            </a:r>
          </a:p>
        </p:txBody>
      </p:sp>
      <p:pic>
        <p:nvPicPr>
          <p:cNvPr id="41" name="Picture 40" descr="02_FAIL_dashboard.png"/>
          <p:cNvPicPr>
            <a:picLocks noChangeAspect="1"/>
          </p:cNvPicPr>
          <p:nvPr/>
        </p:nvPicPr>
        <p:blipFill>
          <a:blip r:embed="rId4"/>
          <a:stretch>
            <a:fillRect/>
          </a:stretch>
        </p:blipFill>
        <p:spPr>
          <a:xfrm>
            <a:off x="10382250" y="4038600"/>
            <a:ext cx="1238250" cy="457200"/>
          </a:xfrm>
          <a:prstGeom prst="rect">
            <a:avLst/>
          </a:prstGeom>
        </p:spPr>
      </p:pic>
      <p:sp>
        <p:nvSpPr>
          <p:cNvPr id="42" name="Rectangle 41"/>
          <p:cNvSpPr/>
          <p:nvPr/>
        </p:nvSpPr>
        <p:spPr>
          <a:xfrm>
            <a:off x="533400" y="6419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33400" y="6496050"/>
            <a:ext cx="10744200" cy="247650"/>
          </a:xfrm>
          <a:prstGeom prst="rect">
            <a:avLst/>
          </a:prstGeom>
          <a:noFill/>
        </p:spPr>
        <p:txBody>
          <a:bodyPr wrap="square" lIns="0" rIns="0" tIns="0" bIns="0" anchor="t">
            <a:spAutoFit/>
          </a:bodyPr>
          <a:lstStyle/>
          <a:p>
            <a:pPr algn="l">
              <a:lnSpc>
                <a:spcPct val="125000"/>
              </a:lnSpc>
            </a:pPr>
            <a:r>
              <a:rPr sz="750" b="0" i="0">
                <a:solidFill>
                  <a:srgbClr val="7C8B9A"/>
                </a:solidFill>
                <a:latin typeface="Segoe UI"/>
              </a:rPr>
              <a:t>Engineering prototype. Not a clinical device. No clinical validation performed. Not for diagnosis or treatment decisions.</a:t>
            </a:r>
          </a:p>
        </p:txBody>
      </p:sp>
      <p:sp>
        <p:nvSpPr>
          <p:cNvPr id="44" name="TextBox 43"/>
          <p:cNvSpPr txBox="1"/>
          <p:nvPr/>
        </p:nvSpPr>
        <p:spPr>
          <a:xfrm>
            <a:off x="11372850" y="6496050"/>
            <a:ext cx="285750" cy="133350"/>
          </a:xfrm>
          <a:prstGeom prst="rect">
            <a:avLst/>
          </a:prstGeom>
          <a:noFill/>
        </p:spPr>
        <p:txBody>
          <a:bodyPr wrap="square" lIns="0" rIns="0" tIns="0" bIns="0" anchor="t">
            <a:spAutoFit/>
          </a:bodyPr>
          <a:lstStyle/>
          <a:p>
            <a:pPr algn="l"/>
            <a:r>
              <a:rPr sz="850" b="1" i="0">
                <a:solidFill>
                  <a:srgbClr val="7C8B9A"/>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61950"/>
            <a:ext cx="11125200" cy="171450"/>
          </a:xfrm>
          <a:prstGeom prst="rect">
            <a:avLst/>
          </a:prstGeom>
          <a:noFill/>
        </p:spPr>
        <p:txBody>
          <a:bodyPr wrap="square" lIns="0" rIns="0" tIns="0" bIns="0" anchor="t">
            <a:spAutoFit/>
          </a:bodyPr>
          <a:lstStyle/>
          <a:p>
            <a:pPr algn="l"/>
            <a:r>
              <a:rPr sz="1050" b="1" i="0">
                <a:solidFill>
                  <a:srgbClr val="7C8B9A"/>
                </a:solidFill>
                <a:latin typeface="Segoe UI"/>
              </a:rPr>
              <a:t>EXPLAINABILITY</a:t>
            </a:r>
          </a:p>
        </p:txBody>
      </p:sp>
      <p:sp>
        <p:nvSpPr>
          <p:cNvPr id="3" name="TextBox 2"/>
          <p:cNvSpPr txBox="1"/>
          <p:nvPr/>
        </p:nvSpPr>
        <p:spPr>
          <a:xfrm>
            <a:off x="533400" y="552450"/>
            <a:ext cx="11125200" cy="762000"/>
          </a:xfrm>
          <a:prstGeom prst="rect">
            <a:avLst/>
          </a:prstGeom>
          <a:noFill/>
        </p:spPr>
        <p:txBody>
          <a:bodyPr wrap="square" lIns="0" rIns="0" tIns="0" bIns="0" anchor="t">
            <a:spAutoFit/>
          </a:bodyPr>
          <a:lstStyle/>
          <a:p>
            <a:pPr algn="l">
              <a:lnSpc>
                <a:spcPct val="110000"/>
              </a:lnSpc>
            </a:pPr>
            <a:r>
              <a:rPr sz="2300" b="1">
                <a:solidFill>
                  <a:srgbClr val="0F2A4A"/>
                </a:solidFill>
                <a:latin typeface="Segoe UI"/>
              </a:rPr>
              <a:t>Grad-CAM shows model attention. </a:t>
            </a:r>
            <a:r>
              <a:rPr sz="2300" b="0">
                <a:solidFill>
                  <a:srgbClr val="7C8B9A"/>
                </a:solidFill>
                <a:latin typeface="Segoe UI"/>
              </a:rPr>
              <a:t>It is not lesion localisation.</a:t>
            </a:r>
          </a:p>
        </p:txBody>
      </p:sp>
      <p:sp>
        <p:nvSpPr>
          <p:cNvPr id="4" name="Rectangle 3"/>
          <p:cNvSpPr/>
          <p:nvPr/>
        </p:nvSpPr>
        <p:spPr>
          <a:xfrm>
            <a:off x="533400" y="13525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3400" y="1543050"/>
            <a:ext cx="11125200" cy="466725"/>
          </a:xfrm>
          <a:prstGeom prst="rect">
            <a:avLst/>
          </a:prstGeom>
          <a:noFill/>
        </p:spPr>
        <p:txBody>
          <a:bodyPr wrap="square" lIns="0" rIns="0" tIns="0" bIns="0" anchor="t">
            <a:spAutoFit/>
          </a:bodyPr>
          <a:lstStyle/>
          <a:p>
            <a:pPr algn="l">
              <a:lnSpc>
                <a:spcPct val="140000"/>
              </a:lnSpc>
            </a:pPr>
            <a:r>
              <a:rPr sz="1050" b="0" i="0">
                <a:solidFill>
                  <a:srgbClr val="40505F"/>
                </a:solidFill>
                <a:latin typeface="Segoe UI"/>
              </a:rPr>
              <a:t>Four views of one real case from the running application. The heat-map is a statement about where the model looked, not about where a lesion is - and we measured how far apart those two things are.</a:t>
            </a:r>
          </a:p>
        </p:txBody>
      </p:sp>
      <p:sp>
        <p:nvSpPr>
          <p:cNvPr id="6" name="Rectangle 5"/>
          <p:cNvSpPr/>
          <p:nvPr/>
        </p:nvSpPr>
        <p:spPr>
          <a:xfrm>
            <a:off x="533400" y="1714500"/>
            <a:ext cx="2705100" cy="21336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03_PASS_Original.png"/>
          <p:cNvPicPr>
            <a:picLocks noChangeAspect="1"/>
          </p:cNvPicPr>
          <p:nvPr/>
        </p:nvPicPr>
        <p:blipFill>
          <a:blip r:embed="rId2"/>
          <a:stretch>
            <a:fillRect/>
          </a:stretch>
        </p:blipFill>
        <p:spPr>
          <a:xfrm>
            <a:off x="628650" y="1809750"/>
            <a:ext cx="2514600" cy="1581150"/>
          </a:xfrm>
          <a:prstGeom prst="rect">
            <a:avLst/>
          </a:prstGeom>
        </p:spPr>
      </p:pic>
      <p:sp>
        <p:nvSpPr>
          <p:cNvPr id="8" name="TextBox 7"/>
          <p:cNvSpPr txBox="1"/>
          <p:nvPr/>
        </p:nvSpPr>
        <p:spPr>
          <a:xfrm>
            <a:off x="647700" y="3467100"/>
            <a:ext cx="2476500" cy="152400"/>
          </a:xfrm>
          <a:prstGeom prst="rect">
            <a:avLst/>
          </a:prstGeom>
          <a:noFill/>
        </p:spPr>
        <p:txBody>
          <a:bodyPr wrap="square" lIns="0" rIns="0" tIns="0" bIns="0" anchor="t">
            <a:spAutoFit/>
          </a:bodyPr>
          <a:lstStyle/>
          <a:p>
            <a:pPr algn="l"/>
            <a:r>
              <a:rPr sz="1000" b="1" i="0">
                <a:solidFill>
                  <a:srgbClr val="0F2A4A"/>
                </a:solidFill>
                <a:latin typeface="Segoe UI"/>
              </a:rPr>
              <a:t>Original</a:t>
            </a:r>
          </a:p>
        </p:txBody>
      </p:sp>
      <p:sp>
        <p:nvSpPr>
          <p:cNvPr id="9" name="TextBox 8"/>
          <p:cNvSpPr txBox="1"/>
          <p:nvPr/>
        </p:nvSpPr>
        <p:spPr>
          <a:xfrm>
            <a:off x="647700" y="3638550"/>
            <a:ext cx="24765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the model input, unchanged.</a:t>
            </a:r>
          </a:p>
        </p:txBody>
      </p:sp>
      <p:sp>
        <p:nvSpPr>
          <p:cNvPr id="10" name="Rectangle 9"/>
          <p:cNvSpPr/>
          <p:nvPr/>
        </p:nvSpPr>
        <p:spPr>
          <a:xfrm>
            <a:off x="3352800" y="1714500"/>
            <a:ext cx="2705100" cy="21336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03_PASS_Enhanced.png"/>
          <p:cNvPicPr>
            <a:picLocks noChangeAspect="1"/>
          </p:cNvPicPr>
          <p:nvPr/>
        </p:nvPicPr>
        <p:blipFill>
          <a:blip r:embed="rId3"/>
          <a:stretch>
            <a:fillRect/>
          </a:stretch>
        </p:blipFill>
        <p:spPr>
          <a:xfrm>
            <a:off x="3448050" y="1809750"/>
            <a:ext cx="2514600" cy="1581150"/>
          </a:xfrm>
          <a:prstGeom prst="rect">
            <a:avLst/>
          </a:prstGeom>
        </p:spPr>
      </p:pic>
      <p:sp>
        <p:nvSpPr>
          <p:cNvPr id="12" name="TextBox 11"/>
          <p:cNvSpPr txBox="1"/>
          <p:nvPr/>
        </p:nvSpPr>
        <p:spPr>
          <a:xfrm>
            <a:off x="3467100" y="3467100"/>
            <a:ext cx="2476500" cy="152400"/>
          </a:xfrm>
          <a:prstGeom prst="rect">
            <a:avLst/>
          </a:prstGeom>
          <a:noFill/>
        </p:spPr>
        <p:txBody>
          <a:bodyPr wrap="square" lIns="0" rIns="0" tIns="0" bIns="0" anchor="t">
            <a:spAutoFit/>
          </a:bodyPr>
          <a:lstStyle/>
          <a:p>
            <a:pPr algn="l"/>
            <a:r>
              <a:rPr sz="1000" b="1" i="0">
                <a:solidFill>
                  <a:srgbClr val="0F2A4A"/>
                </a:solidFill>
                <a:latin typeface="Segoe UI"/>
              </a:rPr>
              <a:t>Enhanced</a:t>
            </a:r>
          </a:p>
        </p:txBody>
      </p:sp>
      <p:sp>
        <p:nvSpPr>
          <p:cNvPr id="13" name="TextBox 12"/>
          <p:cNvSpPr txBox="1"/>
          <p:nvPr/>
        </p:nvSpPr>
        <p:spPr>
          <a:xfrm>
            <a:off x="3467100" y="3638550"/>
            <a:ext cx="24765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display aid only. Not the model input.</a:t>
            </a:r>
          </a:p>
        </p:txBody>
      </p:sp>
      <p:sp>
        <p:nvSpPr>
          <p:cNvPr id="14" name="Rectangle 13"/>
          <p:cNvSpPr/>
          <p:nvPr/>
        </p:nvSpPr>
        <p:spPr>
          <a:xfrm>
            <a:off x="6172200" y="1714500"/>
            <a:ext cx="2705100" cy="21336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03_PASS_Grad-CAM.png"/>
          <p:cNvPicPr>
            <a:picLocks noChangeAspect="1"/>
          </p:cNvPicPr>
          <p:nvPr/>
        </p:nvPicPr>
        <p:blipFill>
          <a:blip r:embed="rId4"/>
          <a:stretch>
            <a:fillRect/>
          </a:stretch>
        </p:blipFill>
        <p:spPr>
          <a:xfrm>
            <a:off x="6267450" y="1809750"/>
            <a:ext cx="2514600" cy="1581150"/>
          </a:xfrm>
          <a:prstGeom prst="rect">
            <a:avLst/>
          </a:prstGeom>
        </p:spPr>
      </p:pic>
      <p:sp>
        <p:nvSpPr>
          <p:cNvPr id="16" name="TextBox 15"/>
          <p:cNvSpPr txBox="1"/>
          <p:nvPr/>
        </p:nvSpPr>
        <p:spPr>
          <a:xfrm>
            <a:off x="6286500" y="3467100"/>
            <a:ext cx="2476500" cy="152400"/>
          </a:xfrm>
          <a:prstGeom prst="rect">
            <a:avLst/>
          </a:prstGeom>
          <a:noFill/>
        </p:spPr>
        <p:txBody>
          <a:bodyPr wrap="square" lIns="0" rIns="0" tIns="0" bIns="0" anchor="t">
            <a:spAutoFit/>
          </a:bodyPr>
          <a:lstStyle/>
          <a:p>
            <a:pPr algn="l"/>
            <a:r>
              <a:rPr sz="1000" b="1" i="0">
                <a:solidFill>
                  <a:srgbClr val="0F2A4A"/>
                </a:solidFill>
                <a:latin typeface="Segoe UI"/>
              </a:rPr>
              <a:t>Grad-CAM</a:t>
            </a:r>
          </a:p>
        </p:txBody>
      </p:sp>
      <p:sp>
        <p:nvSpPr>
          <p:cNvPr id="17" name="TextBox 16"/>
          <p:cNvSpPr txBox="1"/>
          <p:nvPr/>
        </p:nvSpPr>
        <p:spPr>
          <a:xfrm>
            <a:off x="6286500" y="3638550"/>
            <a:ext cx="24765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regions that most influenced the decision.</a:t>
            </a:r>
          </a:p>
        </p:txBody>
      </p:sp>
      <p:sp>
        <p:nvSpPr>
          <p:cNvPr id="18" name="Rectangle 17"/>
          <p:cNvSpPr/>
          <p:nvPr/>
        </p:nvSpPr>
        <p:spPr>
          <a:xfrm>
            <a:off x="8991600" y="1714500"/>
            <a:ext cx="2705100" cy="21336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03_PASS_Overlay.png"/>
          <p:cNvPicPr>
            <a:picLocks noChangeAspect="1"/>
          </p:cNvPicPr>
          <p:nvPr/>
        </p:nvPicPr>
        <p:blipFill>
          <a:blip r:embed="rId5"/>
          <a:stretch>
            <a:fillRect/>
          </a:stretch>
        </p:blipFill>
        <p:spPr>
          <a:xfrm>
            <a:off x="9086850" y="1809750"/>
            <a:ext cx="2514600" cy="1581150"/>
          </a:xfrm>
          <a:prstGeom prst="rect">
            <a:avLst/>
          </a:prstGeom>
        </p:spPr>
      </p:pic>
      <p:sp>
        <p:nvSpPr>
          <p:cNvPr id="20" name="TextBox 19"/>
          <p:cNvSpPr txBox="1"/>
          <p:nvPr/>
        </p:nvSpPr>
        <p:spPr>
          <a:xfrm>
            <a:off x="9105900" y="3467100"/>
            <a:ext cx="2476500" cy="152400"/>
          </a:xfrm>
          <a:prstGeom prst="rect">
            <a:avLst/>
          </a:prstGeom>
          <a:noFill/>
        </p:spPr>
        <p:txBody>
          <a:bodyPr wrap="square" lIns="0" rIns="0" tIns="0" bIns="0" anchor="t">
            <a:spAutoFit/>
          </a:bodyPr>
          <a:lstStyle/>
          <a:p>
            <a:pPr algn="l"/>
            <a:r>
              <a:rPr sz="1000" b="1" i="0">
                <a:solidFill>
                  <a:srgbClr val="0F2A4A"/>
                </a:solidFill>
                <a:latin typeface="Segoe UI"/>
              </a:rPr>
              <a:t>Overlay</a:t>
            </a:r>
          </a:p>
        </p:txBody>
      </p:sp>
      <p:sp>
        <p:nvSpPr>
          <p:cNvPr id="21" name="TextBox 20"/>
          <p:cNvSpPr txBox="1"/>
          <p:nvPr/>
        </p:nvSpPr>
        <p:spPr>
          <a:xfrm>
            <a:off x="9105900" y="3638550"/>
            <a:ext cx="2476500" cy="171450"/>
          </a:xfrm>
          <a:prstGeom prst="rect">
            <a:avLst/>
          </a:prstGeom>
          <a:noFill/>
        </p:spPr>
        <p:txBody>
          <a:bodyPr wrap="square" lIns="0" rIns="0" tIns="0" bIns="0" anchor="t">
            <a:spAutoFit/>
          </a:bodyPr>
          <a:lstStyle/>
          <a:p>
            <a:pPr algn="l">
              <a:lnSpc>
                <a:spcPct val="125000"/>
              </a:lnSpc>
            </a:pPr>
            <a:r>
              <a:rPr sz="800" b="0" i="0">
                <a:solidFill>
                  <a:srgbClr val="40505F"/>
                </a:solidFill>
                <a:latin typeface="Segoe UI"/>
              </a:rPr>
              <a:t>for the reviewer's eye, not a finding.</a:t>
            </a:r>
          </a:p>
        </p:txBody>
      </p:sp>
      <p:sp>
        <p:nvSpPr>
          <p:cNvPr id="22" name="TextBox 21"/>
          <p:cNvSpPr txBox="1"/>
          <p:nvPr/>
        </p:nvSpPr>
        <p:spPr>
          <a:xfrm>
            <a:off x="533400" y="3981450"/>
            <a:ext cx="11125200" cy="171450"/>
          </a:xfrm>
          <a:prstGeom prst="rect">
            <a:avLst/>
          </a:prstGeom>
          <a:noFill/>
        </p:spPr>
        <p:txBody>
          <a:bodyPr wrap="square" lIns="0" rIns="0" tIns="0" bIns="0" anchor="t">
            <a:spAutoFit/>
          </a:bodyPr>
          <a:lstStyle/>
          <a:p>
            <a:pPr algn="l"/>
            <a:r>
              <a:rPr sz="950" b="1" i="0">
                <a:solidFill>
                  <a:srgbClr val="7C8B9A"/>
                </a:solidFill>
                <a:latin typeface="Segoe UI"/>
              </a:rPr>
              <a:t>WE MEASURED OUR OWN EXPLAINABILITY AGAINST IDRID LESION MASKS</a:t>
            </a:r>
          </a:p>
        </p:txBody>
      </p:sp>
      <p:sp>
        <p:nvSpPr>
          <p:cNvPr id="23" name="Rectangle 22"/>
          <p:cNvSpPr/>
          <p:nvPr/>
        </p:nvSpPr>
        <p:spPr>
          <a:xfrm>
            <a:off x="533400" y="4191000"/>
            <a:ext cx="2709862" cy="6858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7700" y="4267200"/>
            <a:ext cx="2481262" cy="317500"/>
          </a:xfrm>
          <a:prstGeom prst="rect">
            <a:avLst/>
          </a:prstGeom>
          <a:noFill/>
        </p:spPr>
        <p:txBody>
          <a:bodyPr wrap="square" lIns="0" rIns="0" tIns="0" bIns="0" anchor="t">
            <a:spAutoFit/>
          </a:bodyPr>
          <a:lstStyle/>
          <a:p>
            <a:pPr algn="l"/>
            <a:r>
              <a:rPr sz="2000" b="1" i="0">
                <a:solidFill>
                  <a:srgbClr val="B42B2B"/>
                </a:solidFill>
                <a:latin typeface="Segoe UI"/>
              </a:rPr>
              <a:t>3.1%</a:t>
            </a:r>
          </a:p>
        </p:txBody>
      </p:sp>
      <p:sp>
        <p:nvSpPr>
          <p:cNvPr id="25" name="TextBox 24"/>
          <p:cNvSpPr txBox="1"/>
          <p:nvPr/>
        </p:nvSpPr>
        <p:spPr>
          <a:xfrm>
            <a:off x="647700" y="4603750"/>
            <a:ext cx="2481262"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saliency mass inside a lesion mask</a:t>
            </a:r>
          </a:p>
        </p:txBody>
      </p:sp>
      <p:sp>
        <p:nvSpPr>
          <p:cNvPr id="26" name="Rectangle 25"/>
          <p:cNvSpPr/>
          <p:nvPr/>
        </p:nvSpPr>
        <p:spPr>
          <a:xfrm>
            <a:off x="3338512" y="4191000"/>
            <a:ext cx="2709862" cy="6858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452812" y="4267200"/>
            <a:ext cx="2481262" cy="317500"/>
          </a:xfrm>
          <a:prstGeom prst="rect">
            <a:avLst/>
          </a:prstGeom>
          <a:noFill/>
        </p:spPr>
        <p:txBody>
          <a:bodyPr wrap="square" lIns="0" rIns="0" tIns="0" bIns="0" anchor="t">
            <a:spAutoFit/>
          </a:bodyPr>
          <a:lstStyle/>
          <a:p>
            <a:pPr algn="l"/>
            <a:r>
              <a:rPr sz="2000" b="1" i="0">
                <a:solidFill>
                  <a:srgbClr val="B42B2B"/>
                </a:solidFill>
                <a:latin typeface="Segoe UI"/>
              </a:rPr>
              <a:t>7.4%</a:t>
            </a:r>
          </a:p>
        </p:txBody>
      </p:sp>
      <p:sp>
        <p:nvSpPr>
          <p:cNvPr id="28" name="TextBox 27"/>
          <p:cNvSpPr txBox="1"/>
          <p:nvPr/>
        </p:nvSpPr>
        <p:spPr>
          <a:xfrm>
            <a:off x="3452812" y="4603750"/>
            <a:ext cx="2481262"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pointing-game accuracy</a:t>
            </a:r>
          </a:p>
        </p:txBody>
      </p:sp>
      <p:sp>
        <p:nvSpPr>
          <p:cNvPr id="29" name="Rectangle 28"/>
          <p:cNvSpPr/>
          <p:nvPr/>
        </p:nvSpPr>
        <p:spPr>
          <a:xfrm>
            <a:off x="6143625" y="4191000"/>
            <a:ext cx="2709862" cy="6858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57925" y="4267200"/>
            <a:ext cx="2481262" cy="317500"/>
          </a:xfrm>
          <a:prstGeom prst="rect">
            <a:avLst/>
          </a:prstGeom>
          <a:noFill/>
        </p:spPr>
        <p:txBody>
          <a:bodyPr wrap="square" lIns="0" rIns="0" tIns="0" bIns="0" anchor="t">
            <a:spAutoFit/>
          </a:bodyPr>
          <a:lstStyle/>
          <a:p>
            <a:pPr algn="l"/>
            <a:r>
              <a:rPr sz="2000" b="1" i="0">
                <a:solidFill>
                  <a:srgbClr val="B42B2B"/>
                </a:solidFill>
                <a:latin typeface="Segoe UI"/>
              </a:rPr>
              <a:t>0.035</a:t>
            </a:r>
          </a:p>
        </p:txBody>
      </p:sp>
      <p:sp>
        <p:nvSpPr>
          <p:cNvPr id="31" name="TextBox 30"/>
          <p:cNvSpPr txBox="1"/>
          <p:nvPr/>
        </p:nvSpPr>
        <p:spPr>
          <a:xfrm>
            <a:off x="6257925" y="4603750"/>
            <a:ext cx="2481262"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mean IoU, top-20% pixels</a:t>
            </a:r>
          </a:p>
        </p:txBody>
      </p:sp>
      <p:sp>
        <p:nvSpPr>
          <p:cNvPr id="32" name="Rectangle 31"/>
          <p:cNvSpPr/>
          <p:nvPr/>
        </p:nvSpPr>
        <p:spPr>
          <a:xfrm>
            <a:off x="8948738" y="4191000"/>
            <a:ext cx="2709862" cy="6858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063038" y="4267200"/>
            <a:ext cx="2481262" cy="317500"/>
          </a:xfrm>
          <a:prstGeom prst="rect">
            <a:avLst/>
          </a:prstGeom>
          <a:noFill/>
        </p:spPr>
        <p:txBody>
          <a:bodyPr wrap="square" lIns="0" rIns="0" tIns="0" bIns="0" anchor="t">
            <a:spAutoFit/>
          </a:bodyPr>
          <a:lstStyle/>
          <a:p>
            <a:pPr algn="l"/>
            <a:r>
              <a:rPr sz="2000" b="1" i="0">
                <a:solidFill>
                  <a:srgbClr val="7C8B9A"/>
                </a:solidFill>
                <a:latin typeface="Segoe UI"/>
              </a:rPr>
              <a:t>n/m</a:t>
            </a:r>
          </a:p>
        </p:txBody>
      </p:sp>
      <p:sp>
        <p:nvSpPr>
          <p:cNvPr id="34" name="TextBox 33"/>
          <p:cNvSpPr txBox="1"/>
          <p:nvPr/>
        </p:nvSpPr>
        <p:spPr>
          <a:xfrm>
            <a:off x="9063038" y="4603750"/>
            <a:ext cx="2481262"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MACE - not measured</a:t>
            </a:r>
          </a:p>
        </p:txBody>
      </p:sp>
      <p:sp>
        <p:nvSpPr>
          <p:cNvPr id="35" name="TextBox 34"/>
          <p:cNvSpPr txBox="1"/>
          <p:nvPr/>
        </p:nvSpPr>
        <p:spPr>
          <a:xfrm>
            <a:off x="533400" y="4876800"/>
            <a:ext cx="5905500" cy="666750"/>
          </a:xfrm>
          <a:prstGeom prst="rect">
            <a:avLst/>
          </a:prstGeom>
          <a:noFill/>
        </p:spPr>
        <p:txBody>
          <a:bodyPr wrap="square" lIns="0" rIns="0" tIns="0" bIns="0" anchor="t">
            <a:spAutoFit/>
          </a:bodyPr>
          <a:lstStyle/>
          <a:p>
            <a:pPr algn="l">
              <a:lnSpc>
                <a:spcPct val="140000"/>
              </a:lnSpc>
            </a:pPr>
            <a:r>
              <a:rPr sz="900" b="0" i="0">
                <a:solidFill>
                  <a:srgbClr val="40505F"/>
                </a:solidFill>
                <a:latin typeface="Segoe UI"/>
              </a:rPr>
              <a:t>Against an areal chance baseline of 0.0220, that is about 1.39x chance. The alignment is weak, and we did not retrain the model to improve a visualisation metric. We publish the number because a screening prototype that overstates its own evidence is not deployable.</a:t>
            </a:r>
          </a:p>
        </p:txBody>
      </p:sp>
      <p:sp>
        <p:nvSpPr>
          <p:cNvPr id="36" name="TextBox 35"/>
          <p:cNvSpPr txBox="1"/>
          <p:nvPr/>
        </p:nvSpPr>
        <p:spPr>
          <a:xfrm>
            <a:off x="6667500" y="4876800"/>
            <a:ext cx="4991100" cy="152400"/>
          </a:xfrm>
          <a:prstGeom prst="rect">
            <a:avLst/>
          </a:prstGeom>
          <a:noFill/>
        </p:spPr>
        <p:txBody>
          <a:bodyPr wrap="square" lIns="0" rIns="0" tIns="0" bIns="0" anchor="t">
            <a:spAutoFit/>
          </a:bodyPr>
          <a:lstStyle/>
          <a:p>
            <a:pPr algn="l"/>
            <a:r>
              <a:rPr sz="900" b="1" i="0">
                <a:solidFill>
                  <a:srgbClr val="0F2A4A"/>
                </a:solidFill>
                <a:latin typeface="Segoe UI"/>
              </a:rPr>
              <a:t>Say “model attention”, not “lesion localisation”.</a:t>
            </a:r>
          </a:p>
        </p:txBody>
      </p:sp>
      <p:sp>
        <p:nvSpPr>
          <p:cNvPr id="37" name="TextBox 36"/>
          <p:cNvSpPr txBox="1"/>
          <p:nvPr/>
        </p:nvSpPr>
        <p:spPr>
          <a:xfrm>
            <a:off x="6667500" y="5038725"/>
            <a:ext cx="4991100" cy="285750"/>
          </a:xfrm>
          <a:prstGeom prst="rect">
            <a:avLst/>
          </a:prstGeom>
          <a:noFill/>
        </p:spPr>
        <p:txBody>
          <a:bodyPr wrap="square" lIns="0" rIns="0" tIns="0" bIns="0" anchor="t">
            <a:spAutoFit/>
          </a:bodyPr>
          <a:lstStyle/>
          <a:p>
            <a:pPr algn="l">
              <a:lnSpc>
                <a:spcPct val="130000"/>
              </a:lnSpc>
            </a:pPr>
            <a:r>
              <a:rPr sz="800" b="0" i="0">
                <a:solidFill>
                  <a:srgbClr val="40505F"/>
                </a:solidFill>
                <a:latin typeface="Segoe UI"/>
              </a:rPr>
              <a:t>The second claim is not supported by our own measurement and we do not make it.</a:t>
            </a:r>
          </a:p>
        </p:txBody>
      </p:sp>
      <p:sp>
        <p:nvSpPr>
          <p:cNvPr id="38" name="TextBox 37"/>
          <p:cNvSpPr txBox="1"/>
          <p:nvPr/>
        </p:nvSpPr>
        <p:spPr>
          <a:xfrm>
            <a:off x="6667500" y="5334000"/>
            <a:ext cx="4991100" cy="152400"/>
          </a:xfrm>
          <a:prstGeom prst="rect">
            <a:avLst/>
          </a:prstGeom>
          <a:noFill/>
        </p:spPr>
        <p:txBody>
          <a:bodyPr wrap="square" lIns="0" rIns="0" tIns="0" bIns="0" anchor="t">
            <a:spAutoFit/>
          </a:bodyPr>
          <a:lstStyle/>
          <a:p>
            <a:pPr algn="l"/>
            <a:r>
              <a:rPr sz="900" b="1" i="0">
                <a:solidFill>
                  <a:srgbClr val="0F2A4A"/>
                </a:solidFill>
                <a:latin typeface="Segoe UI"/>
              </a:rPr>
              <a:t>Lesion counts are candidates, not findings.</a:t>
            </a:r>
          </a:p>
        </p:txBody>
      </p:sp>
      <p:sp>
        <p:nvSpPr>
          <p:cNvPr id="39" name="TextBox 38"/>
          <p:cNvSpPr txBox="1"/>
          <p:nvPr/>
        </p:nvSpPr>
        <p:spPr>
          <a:xfrm>
            <a:off x="6667500" y="5495925"/>
            <a:ext cx="4991100" cy="285750"/>
          </a:xfrm>
          <a:prstGeom prst="rect">
            <a:avLst/>
          </a:prstGeom>
          <a:noFill/>
        </p:spPr>
        <p:txBody>
          <a:bodyPr wrap="square" lIns="0" rIns="0" tIns="0" bIns="0" anchor="t">
            <a:spAutoFit/>
          </a:bodyPr>
          <a:lstStyle/>
          <a:p>
            <a:pPr algn="l">
              <a:lnSpc>
                <a:spcPct val="130000"/>
              </a:lnSpc>
            </a:pPr>
            <a:r>
              <a:rPr sz="800" b="0" i="0">
                <a:solidFill>
                  <a:srgbClr val="40505F"/>
                </a:solidFill>
                <a:latin typeface="Segoe UI"/>
              </a:rPr>
              <a:t>The microaneurysm detector has patch AUC 0.976 but detection recall of only 0.113, and the classical detectors over-fire on unfamiliar images.</a:t>
            </a:r>
          </a:p>
        </p:txBody>
      </p:sp>
      <p:sp>
        <p:nvSpPr>
          <p:cNvPr id="40" name="TextBox 39"/>
          <p:cNvSpPr txBox="1"/>
          <p:nvPr/>
        </p:nvSpPr>
        <p:spPr>
          <a:xfrm>
            <a:off x="6667500" y="5791200"/>
            <a:ext cx="4991100" cy="152400"/>
          </a:xfrm>
          <a:prstGeom prst="rect">
            <a:avLst/>
          </a:prstGeom>
          <a:noFill/>
        </p:spPr>
        <p:txBody>
          <a:bodyPr wrap="square" lIns="0" rIns="0" tIns="0" bIns="0" anchor="t">
            <a:spAutoFit/>
          </a:bodyPr>
          <a:lstStyle/>
          <a:p>
            <a:pPr algn="l"/>
            <a:r>
              <a:rPr sz="900" b="1" i="0">
                <a:solidFill>
                  <a:srgbClr val="0F2A4A"/>
                </a:solidFill>
                <a:latin typeface="Segoe UI"/>
              </a:rPr>
              <a:t>Calibration is presentation-only.</a:t>
            </a:r>
          </a:p>
        </p:txBody>
      </p:sp>
      <p:sp>
        <p:nvSpPr>
          <p:cNvPr id="41" name="TextBox 40"/>
          <p:cNvSpPr txBox="1"/>
          <p:nvPr/>
        </p:nvSpPr>
        <p:spPr>
          <a:xfrm>
            <a:off x="6667500" y="5953125"/>
            <a:ext cx="4991100" cy="285750"/>
          </a:xfrm>
          <a:prstGeom prst="rect">
            <a:avLst/>
          </a:prstGeom>
          <a:noFill/>
        </p:spPr>
        <p:txBody>
          <a:bodyPr wrap="square" lIns="0" rIns="0" tIns="0" bIns="0" anchor="t">
            <a:spAutoFit/>
          </a:bodyPr>
          <a:lstStyle/>
          <a:p>
            <a:pPr algn="l">
              <a:lnSpc>
                <a:spcPct val="130000"/>
              </a:lnSpc>
            </a:pPr>
            <a:r>
              <a:rPr sz="800" b="0" i="0">
                <a:solidFill>
                  <a:srgbClr val="40505F"/>
                </a:solidFill>
                <a:latin typeface="Segoe UI"/>
              </a:rPr>
              <a:t>T = 2.5382 makes the displayed confidence usable; it is not evidence of external generalisation.</a:t>
            </a:r>
          </a:p>
        </p:txBody>
      </p:sp>
      <p:sp>
        <p:nvSpPr>
          <p:cNvPr id="42" name="Rectangle 41"/>
          <p:cNvSpPr/>
          <p:nvPr/>
        </p:nvSpPr>
        <p:spPr>
          <a:xfrm>
            <a:off x="533400" y="6419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33400" y="6496050"/>
            <a:ext cx="10744200" cy="247650"/>
          </a:xfrm>
          <a:prstGeom prst="rect">
            <a:avLst/>
          </a:prstGeom>
          <a:noFill/>
        </p:spPr>
        <p:txBody>
          <a:bodyPr wrap="square" lIns="0" rIns="0" tIns="0" bIns="0" anchor="t">
            <a:spAutoFit/>
          </a:bodyPr>
          <a:lstStyle/>
          <a:p>
            <a:pPr algn="l">
              <a:lnSpc>
                <a:spcPct val="125000"/>
              </a:lnSpc>
            </a:pPr>
            <a:r>
              <a:rPr sz="750" b="0" i="0">
                <a:solidFill>
                  <a:srgbClr val="7C8B9A"/>
                </a:solidFill>
                <a:latin typeface="Segoe UI"/>
              </a:rPr>
              <a:t>Engineering prototype. Grad-CAM is model attention, not lesion localisation. Not a clinical device; not for diagnosis or treatment decisions.</a:t>
            </a:r>
          </a:p>
        </p:txBody>
      </p:sp>
      <p:sp>
        <p:nvSpPr>
          <p:cNvPr id="44" name="TextBox 43"/>
          <p:cNvSpPr txBox="1"/>
          <p:nvPr/>
        </p:nvSpPr>
        <p:spPr>
          <a:xfrm>
            <a:off x="11372850" y="6496050"/>
            <a:ext cx="285750" cy="133350"/>
          </a:xfrm>
          <a:prstGeom prst="rect">
            <a:avLst/>
          </a:prstGeom>
          <a:noFill/>
        </p:spPr>
        <p:txBody>
          <a:bodyPr wrap="square" lIns="0" rIns="0" tIns="0" bIns="0" anchor="t">
            <a:spAutoFit/>
          </a:bodyPr>
          <a:lstStyle/>
          <a:p>
            <a:pPr algn="l"/>
            <a:r>
              <a:rPr sz="850" b="1" i="0">
                <a:solidFill>
                  <a:srgbClr val="7C8B9A"/>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61950"/>
            <a:ext cx="11125200" cy="171450"/>
          </a:xfrm>
          <a:prstGeom prst="rect">
            <a:avLst/>
          </a:prstGeom>
          <a:noFill/>
        </p:spPr>
        <p:txBody>
          <a:bodyPr wrap="square" lIns="0" rIns="0" tIns="0" bIns="0" anchor="t">
            <a:spAutoFit/>
          </a:bodyPr>
          <a:lstStyle/>
          <a:p>
            <a:pPr algn="l"/>
            <a:r>
              <a:rPr sz="1050" b="1" i="0">
                <a:solidFill>
                  <a:srgbClr val="7C8B9A"/>
                </a:solidFill>
                <a:latin typeface="Segoe UI"/>
              </a:rPr>
              <a:t>DISTRICT-SCALE SIMULATION</a:t>
            </a:r>
          </a:p>
        </p:txBody>
      </p:sp>
      <p:sp>
        <p:nvSpPr>
          <p:cNvPr id="3" name="TextBox 2"/>
          <p:cNvSpPr txBox="1"/>
          <p:nvPr/>
        </p:nvSpPr>
        <p:spPr>
          <a:xfrm>
            <a:off x="533400" y="552450"/>
            <a:ext cx="11125200" cy="762000"/>
          </a:xfrm>
          <a:prstGeom prst="rect">
            <a:avLst/>
          </a:prstGeom>
          <a:noFill/>
        </p:spPr>
        <p:txBody>
          <a:bodyPr wrap="square" lIns="0" rIns="0" tIns="0" bIns="0" anchor="t">
            <a:spAutoFit/>
          </a:bodyPr>
          <a:lstStyle/>
          <a:p>
            <a:pPr algn="l">
              <a:lnSpc>
                <a:spcPct val="110000"/>
              </a:lnSpc>
            </a:pPr>
            <a:r>
              <a:rPr sz="2300" b="1">
                <a:solidFill>
                  <a:srgbClr val="0F2A4A"/>
                </a:solidFill>
                <a:latin typeface="Segoe UI"/>
              </a:rPr>
              <a:t>The bottleneck the model exposes is </a:t>
            </a:r>
            <a:r>
              <a:rPr sz="2300" b="0">
                <a:solidFill>
                  <a:srgbClr val="7C8B9A"/>
                </a:solidFill>
                <a:latin typeface="Segoe UI"/>
              </a:rPr>
              <a:t>specialist review, not AI processing</a:t>
            </a:r>
          </a:p>
        </p:txBody>
      </p:sp>
      <p:sp>
        <p:nvSpPr>
          <p:cNvPr id="4" name="Rectangle 3"/>
          <p:cNvSpPr/>
          <p:nvPr/>
        </p:nvSpPr>
        <p:spPr>
          <a:xfrm>
            <a:off x="533400" y="13525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3400" y="1543050"/>
            <a:ext cx="11125200" cy="466725"/>
          </a:xfrm>
          <a:prstGeom prst="rect">
            <a:avLst/>
          </a:prstGeom>
          <a:noFill/>
        </p:spPr>
        <p:txBody>
          <a:bodyPr wrap="square" lIns="0" rIns="0" tIns="0" bIns="0" anchor="t">
            <a:spAutoFit/>
          </a:bodyPr>
          <a:lstStyle/>
          <a:p>
            <a:pPr algn="l">
              <a:lnSpc>
                <a:spcPct val="140000"/>
              </a:lnSpc>
            </a:pPr>
            <a:r>
              <a:rPr sz="1050" b="0" i="0">
                <a:solidFill>
                  <a:srgbClr val="40505F"/>
                </a:solidFill>
                <a:latin typeface="Segoe UI"/>
              </a:rPr>
              <a:t>Five panels from one simulation: patient flow, referral demand, queue growth over the year, utilisation against the capacity scenarios, and workload by referral threshold.</a:t>
            </a:r>
          </a:p>
        </p:txBody>
      </p:sp>
      <p:sp>
        <p:nvSpPr>
          <p:cNvPr id="6" name="Rectangle 5"/>
          <p:cNvSpPr/>
          <p:nvPr/>
        </p:nvSpPr>
        <p:spPr>
          <a:xfrm>
            <a:off x="533400" y="2057400"/>
            <a:ext cx="2148840" cy="7239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7700" y="2133600"/>
            <a:ext cx="1920240" cy="301625"/>
          </a:xfrm>
          <a:prstGeom prst="rect">
            <a:avLst/>
          </a:prstGeom>
          <a:noFill/>
        </p:spPr>
        <p:txBody>
          <a:bodyPr wrap="square" lIns="0" rIns="0" tIns="0" bIns="0" anchor="t">
            <a:spAutoFit/>
          </a:bodyPr>
          <a:lstStyle/>
          <a:p>
            <a:pPr algn="l"/>
            <a:r>
              <a:rPr sz="1900" b="1" i="0">
                <a:solidFill>
                  <a:srgbClr val="0F2A4A"/>
                </a:solidFill>
                <a:latin typeface="Segoe UI"/>
              </a:rPr>
              <a:t>96,081</a:t>
            </a:r>
          </a:p>
        </p:txBody>
      </p:sp>
      <p:sp>
        <p:nvSpPr>
          <p:cNvPr id="8" name="TextBox 7"/>
          <p:cNvSpPr txBox="1"/>
          <p:nvPr/>
        </p:nvSpPr>
        <p:spPr>
          <a:xfrm>
            <a:off x="647700" y="245427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Images reaching AI screening</a:t>
            </a:r>
          </a:p>
        </p:txBody>
      </p:sp>
      <p:sp>
        <p:nvSpPr>
          <p:cNvPr id="9" name="Rectangle 8"/>
          <p:cNvSpPr/>
          <p:nvPr/>
        </p:nvSpPr>
        <p:spPr>
          <a:xfrm>
            <a:off x="2777490" y="2057400"/>
            <a:ext cx="2148840" cy="7239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891790" y="2133600"/>
            <a:ext cx="1920240" cy="301625"/>
          </a:xfrm>
          <a:prstGeom prst="rect">
            <a:avLst/>
          </a:prstGeom>
          <a:noFill/>
        </p:spPr>
        <p:txBody>
          <a:bodyPr wrap="square" lIns="0" rIns="0" tIns="0" bIns="0" anchor="t">
            <a:spAutoFit/>
          </a:bodyPr>
          <a:lstStyle/>
          <a:p>
            <a:pPr algn="l"/>
            <a:r>
              <a:rPr sz="1900" b="1" i="0">
                <a:solidFill>
                  <a:srgbClr val="0F2A4A"/>
                </a:solidFill>
                <a:latin typeface="Segoe UI"/>
              </a:rPr>
              <a:t>38,406</a:t>
            </a:r>
          </a:p>
        </p:txBody>
      </p:sp>
      <p:sp>
        <p:nvSpPr>
          <p:cNvPr id="11" name="TextBox 10"/>
          <p:cNvSpPr txBox="1"/>
          <p:nvPr/>
        </p:nvSpPr>
        <p:spPr>
          <a:xfrm>
            <a:off x="2891790" y="245427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Referrals generated</a:t>
            </a:r>
          </a:p>
        </p:txBody>
      </p:sp>
      <p:sp>
        <p:nvSpPr>
          <p:cNvPr id="12" name="Rectangle 11"/>
          <p:cNvSpPr/>
          <p:nvPr/>
        </p:nvSpPr>
        <p:spPr>
          <a:xfrm>
            <a:off x="5021580" y="2057400"/>
            <a:ext cx="2148840" cy="7239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135880" y="2133600"/>
            <a:ext cx="1920240" cy="301625"/>
          </a:xfrm>
          <a:prstGeom prst="rect">
            <a:avLst/>
          </a:prstGeom>
          <a:noFill/>
        </p:spPr>
        <p:txBody>
          <a:bodyPr wrap="square" lIns="0" rIns="0" tIns="0" bIns="0" anchor="t">
            <a:spAutoFit/>
          </a:bodyPr>
          <a:lstStyle/>
          <a:p>
            <a:pPr algn="l"/>
            <a:r>
              <a:rPr sz="1900" b="1" i="0">
                <a:solidFill>
                  <a:srgbClr val="0F2A4A"/>
                </a:solidFill>
                <a:latin typeface="Segoe UI"/>
              </a:rPr>
              <a:t>39.97%</a:t>
            </a:r>
          </a:p>
        </p:txBody>
      </p:sp>
      <p:sp>
        <p:nvSpPr>
          <p:cNvPr id="14" name="TextBox 13"/>
          <p:cNvSpPr txBox="1"/>
          <p:nvPr/>
        </p:nvSpPr>
        <p:spPr>
          <a:xfrm>
            <a:off x="5135880" y="2454275"/>
            <a:ext cx="1920240" cy="3048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of screened never consume specialist time - 60.03%</a:t>
            </a:r>
          </a:p>
        </p:txBody>
      </p:sp>
      <p:sp>
        <p:nvSpPr>
          <p:cNvPr id="15" name="Rectangle 14"/>
          <p:cNvSpPr/>
          <p:nvPr/>
        </p:nvSpPr>
        <p:spPr>
          <a:xfrm>
            <a:off x="7265670" y="2057400"/>
            <a:ext cx="2148840" cy="7239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79970" y="2133600"/>
            <a:ext cx="1920240" cy="301625"/>
          </a:xfrm>
          <a:prstGeom prst="rect">
            <a:avLst/>
          </a:prstGeom>
          <a:noFill/>
        </p:spPr>
        <p:txBody>
          <a:bodyPr wrap="square" lIns="0" rIns="0" tIns="0" bIns="0" anchor="t">
            <a:spAutoFit/>
          </a:bodyPr>
          <a:lstStyle/>
          <a:p>
            <a:pPr algn="l"/>
            <a:r>
              <a:rPr sz="1900" b="1" i="0">
                <a:solidFill>
                  <a:srgbClr val="0F2A4A"/>
                </a:solidFill>
                <a:latin typeface="Segoe UI"/>
              </a:rPr>
              <a:t>153.6</a:t>
            </a:r>
          </a:p>
        </p:txBody>
      </p:sp>
      <p:sp>
        <p:nvSpPr>
          <p:cNvPr id="17" name="TextBox 16"/>
          <p:cNvSpPr txBox="1"/>
          <p:nvPr/>
        </p:nvSpPr>
        <p:spPr>
          <a:xfrm>
            <a:off x="7379970" y="245427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Referrals per working day</a:t>
            </a:r>
          </a:p>
        </p:txBody>
      </p:sp>
      <p:sp>
        <p:nvSpPr>
          <p:cNvPr id="18" name="Rectangle 17"/>
          <p:cNvSpPr/>
          <p:nvPr/>
        </p:nvSpPr>
        <p:spPr>
          <a:xfrm>
            <a:off x="9509760" y="2057400"/>
            <a:ext cx="2148840" cy="7239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24060" y="2133600"/>
            <a:ext cx="1920240" cy="301625"/>
          </a:xfrm>
          <a:prstGeom prst="rect">
            <a:avLst/>
          </a:prstGeom>
          <a:noFill/>
        </p:spPr>
        <p:txBody>
          <a:bodyPr wrap="square" lIns="0" rIns="0" tIns="0" bIns="0" anchor="t">
            <a:spAutoFit/>
          </a:bodyPr>
          <a:lstStyle/>
          <a:p>
            <a:pPr algn="l"/>
            <a:r>
              <a:rPr sz="1900" b="1" i="0">
                <a:solidFill>
                  <a:srgbClr val="0F2A4A"/>
                </a:solidFill>
                <a:latin typeface="Segoe UI"/>
              </a:rPr>
              <a:t>7.68</a:t>
            </a:r>
          </a:p>
        </p:txBody>
      </p:sp>
      <p:sp>
        <p:nvSpPr>
          <p:cNvPr id="20" name="TextBox 19"/>
          <p:cNvSpPr txBox="1"/>
          <p:nvPr/>
        </p:nvSpPr>
        <p:spPr>
          <a:xfrm>
            <a:off x="9624060" y="2454275"/>
            <a:ext cx="1920240" cy="3048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Specialists implied, 20 exams/reviewer/day</a:t>
            </a:r>
          </a:p>
        </p:txBody>
      </p:sp>
      <p:pic>
        <p:nvPicPr>
          <p:cNvPr id="21" name="Picture 20" descr="simulink_district_summary.png"/>
          <p:cNvPicPr>
            <a:picLocks noChangeAspect="1"/>
          </p:cNvPicPr>
          <p:nvPr/>
        </p:nvPicPr>
        <p:blipFill>
          <a:blip r:embed="rId2"/>
          <a:stretch>
            <a:fillRect/>
          </a:stretch>
        </p:blipFill>
        <p:spPr>
          <a:xfrm>
            <a:off x="533400" y="2838450"/>
            <a:ext cx="6667500" cy="3124200"/>
          </a:xfrm>
          <a:prstGeom prst="rect">
            <a:avLst/>
          </a:prstGeom>
        </p:spPr>
      </p:pic>
      <p:sp>
        <p:nvSpPr>
          <p:cNvPr id="22" name="TextBox 21"/>
          <p:cNvSpPr txBox="1"/>
          <p:nvPr/>
        </p:nvSpPr>
        <p:spPr>
          <a:xfrm>
            <a:off x="7524750" y="2857500"/>
            <a:ext cx="4133850" cy="422275"/>
          </a:xfrm>
          <a:prstGeom prst="rect">
            <a:avLst/>
          </a:prstGeom>
          <a:noFill/>
        </p:spPr>
        <p:txBody>
          <a:bodyPr wrap="square" lIns="0" rIns="0" tIns="0" bIns="0" anchor="t">
            <a:spAutoFit/>
          </a:bodyPr>
          <a:lstStyle/>
          <a:p>
            <a:pPr algn="l">
              <a:lnSpc>
                <a:spcPct val="140000"/>
              </a:lnSpc>
            </a:pPr>
            <a:r>
              <a:rPr sz="950" b="1">
                <a:solidFill>
                  <a:srgbClr val="0F2A4A"/>
                </a:solidFill>
                <a:latin typeface="Segoe UI"/>
              </a:rPr>
              <a:t>Engineering resource-planning simulation. </a:t>
            </a:r>
            <a:r>
              <a:rPr sz="950" b="0">
                <a:solidFill>
                  <a:srgbClr val="40505F"/>
                </a:solidFill>
                <a:latin typeface="Segoe UI"/>
              </a:rPr>
              <a:t>Not clinical validation and not a staffing prescription.</a:t>
            </a:r>
          </a:p>
        </p:txBody>
      </p:sp>
      <p:sp>
        <p:nvSpPr>
          <p:cNvPr id="23" name="TextBox 22"/>
          <p:cNvSpPr txBox="1"/>
          <p:nvPr/>
        </p:nvSpPr>
        <p:spPr>
          <a:xfrm>
            <a:off x="7524750" y="3352800"/>
            <a:ext cx="4133850" cy="944562"/>
          </a:xfrm>
          <a:prstGeom prst="rect">
            <a:avLst/>
          </a:prstGeom>
          <a:noFill/>
        </p:spPr>
        <p:txBody>
          <a:bodyPr wrap="square" lIns="0" rIns="0" tIns="0" bIns="0" anchor="t">
            <a:spAutoFit/>
          </a:bodyPr>
          <a:lstStyle/>
          <a:p>
            <a:pPr algn="l">
              <a:lnSpc>
                <a:spcPct val="140000"/>
              </a:lnSpc>
            </a:pPr>
            <a:r>
              <a:rPr sz="850" b="0" i="0">
                <a:solidFill>
                  <a:srgbClr val="40505F"/>
                </a:solidFill>
                <a:latin typeface="Segoe UI"/>
              </a:rPr>
              <a:t>The measured input is our locked-split operating point (sensitivity 0.9060, specificity 0.9471 at threshold 0.60). Patient volume, prevalence, specialist capacity and the recapture rate are labelled assumptions, not measurements. The .slx reproduces its reference engine exactly over 250 days; 11/11 sanity checks pass.</a:t>
            </a:r>
          </a:p>
        </p:txBody>
      </p:sp>
      <p:sp>
        <p:nvSpPr>
          <p:cNvPr id="24" name="Rectangle 23"/>
          <p:cNvSpPr/>
          <p:nvPr/>
        </p:nvSpPr>
        <p:spPr>
          <a:xfrm>
            <a:off x="7524750" y="4629150"/>
            <a:ext cx="4133850" cy="12573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58100" y="4743450"/>
            <a:ext cx="3867150" cy="171450"/>
          </a:xfrm>
          <a:prstGeom prst="rect">
            <a:avLst/>
          </a:prstGeom>
          <a:noFill/>
        </p:spPr>
        <p:txBody>
          <a:bodyPr wrap="square" lIns="0" rIns="0" tIns="0" bIns="0" anchor="t">
            <a:spAutoFit/>
          </a:bodyPr>
          <a:lstStyle/>
          <a:p>
            <a:pPr algn="l"/>
            <a:r>
              <a:rPr sz="900" b="1" i="0">
                <a:solidFill>
                  <a:srgbClr val="7C8B9A"/>
                </a:solidFill>
                <a:latin typeface="Segoe UI"/>
              </a:rPr>
              <a:t>THE BREAK POINT</a:t>
            </a:r>
          </a:p>
        </p:txBody>
      </p:sp>
      <p:sp>
        <p:nvSpPr>
          <p:cNvPr id="26" name="TextBox 25"/>
          <p:cNvSpPr txBox="1"/>
          <p:nvPr/>
        </p:nvSpPr>
        <p:spPr>
          <a:xfrm>
            <a:off x="7658100" y="4953000"/>
            <a:ext cx="3867150" cy="857250"/>
          </a:xfrm>
          <a:prstGeom prst="rect">
            <a:avLst/>
          </a:prstGeom>
          <a:noFill/>
        </p:spPr>
        <p:txBody>
          <a:bodyPr wrap="square" lIns="0" rIns="0" tIns="0" bIns="0" anchor="t">
            <a:spAutoFit/>
          </a:bodyPr>
          <a:lstStyle/>
          <a:p>
            <a:pPr algn="l">
              <a:lnSpc>
                <a:spcPct val="140000"/>
              </a:lnSpc>
            </a:pPr>
            <a:r>
              <a:rPr sz="850" b="0">
                <a:solidFill>
                  <a:srgbClr val="40505F"/>
                </a:solidFill>
                <a:latin typeface="Segoe UI"/>
              </a:rPr>
              <a:t>At 60 reviews/day the year ends at a </a:t>
            </a:r>
            <a:r>
              <a:rPr sz="850" b="1">
                <a:solidFill>
                  <a:srgbClr val="0F2A4A"/>
                </a:solidFill>
                <a:latin typeface="Segoe UI"/>
              </a:rPr>
              <a:t>23,406</a:t>
            </a:r>
            <a:r>
              <a:rPr sz="850" b="0">
                <a:solidFill>
                  <a:srgbClr val="40505F"/>
                </a:solidFill>
                <a:latin typeface="Segoe UI"/>
              </a:rPr>
              <a:t> backlog. At 120/day, still </a:t>
            </a:r>
            <a:r>
              <a:rPr sz="850" b="1">
                <a:solidFill>
                  <a:srgbClr val="0F2A4A"/>
                </a:solidFill>
                <a:latin typeface="Segoe UI"/>
              </a:rPr>
              <a:t>8,406</a:t>
            </a:r>
            <a:r>
              <a:rPr sz="850" b="0">
                <a:solidFill>
                  <a:srgbClr val="40505F"/>
                </a:solidFill>
                <a:latin typeface="Segoe UI"/>
              </a:rPr>
              <a:t>. Only at </a:t>
            </a:r>
            <a:r>
              <a:rPr sz="850" b="1">
                <a:solidFill>
                  <a:srgbClr val="0F2A4A"/>
                </a:solidFill>
                <a:latin typeface="Segoe UI"/>
              </a:rPr>
              <a:t>~180 reviews per day</a:t>
            </a:r>
            <a:r>
              <a:rPr sz="850" b="0">
                <a:solidFill>
                  <a:srgbClr val="40505F"/>
                </a:solidFill>
                <a:latin typeface="Segoe UI"/>
              </a:rPr>
              <a:t> does the queue clear, at 85.3% utilisation. A second, independent discrete-event simulation reaches the same conclusion.</a:t>
            </a:r>
          </a:p>
        </p:txBody>
      </p:sp>
      <p:sp>
        <p:nvSpPr>
          <p:cNvPr id="27" name="Rectangle 26"/>
          <p:cNvSpPr/>
          <p:nvPr/>
        </p:nvSpPr>
        <p:spPr>
          <a:xfrm>
            <a:off x="533400" y="6419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33400" y="6496050"/>
            <a:ext cx="10744200" cy="247650"/>
          </a:xfrm>
          <a:prstGeom prst="rect">
            <a:avLst/>
          </a:prstGeom>
          <a:noFill/>
        </p:spPr>
        <p:txBody>
          <a:bodyPr wrap="square" lIns="0" rIns="0" tIns="0" bIns="0" anchor="t">
            <a:spAutoFit/>
          </a:bodyPr>
          <a:lstStyle/>
          <a:p>
            <a:pPr algn="l">
              <a:lnSpc>
                <a:spcPct val="125000"/>
              </a:lnSpc>
            </a:pPr>
            <a:r>
              <a:rPr sz="750" b="0" i="0">
                <a:solidFill>
                  <a:srgbClr val="7C8B9A"/>
                </a:solidFill>
                <a:latin typeface="Segoe UI"/>
              </a:rPr>
              <a:t>Engineering prototype. Simulation outputs are not clinical or operational claims. Not a clinical device; not for diagnosis or treatment decisions.</a:t>
            </a:r>
          </a:p>
        </p:txBody>
      </p:sp>
      <p:sp>
        <p:nvSpPr>
          <p:cNvPr id="29" name="TextBox 28"/>
          <p:cNvSpPr txBox="1"/>
          <p:nvPr/>
        </p:nvSpPr>
        <p:spPr>
          <a:xfrm>
            <a:off x="11372850" y="6496050"/>
            <a:ext cx="285750" cy="133350"/>
          </a:xfrm>
          <a:prstGeom prst="rect">
            <a:avLst/>
          </a:prstGeom>
          <a:noFill/>
        </p:spPr>
        <p:txBody>
          <a:bodyPr wrap="square" lIns="0" rIns="0" tIns="0" bIns="0" anchor="t">
            <a:spAutoFit/>
          </a:bodyPr>
          <a:lstStyle/>
          <a:p>
            <a:pPr algn="l"/>
            <a:r>
              <a:rPr sz="850" b="1" i="0">
                <a:solidFill>
                  <a:srgbClr val="7C8B9A"/>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61950"/>
            <a:ext cx="11125200" cy="171450"/>
          </a:xfrm>
          <a:prstGeom prst="rect">
            <a:avLst/>
          </a:prstGeom>
          <a:noFill/>
        </p:spPr>
        <p:txBody>
          <a:bodyPr wrap="square" lIns="0" rIns="0" tIns="0" bIns="0" anchor="t">
            <a:spAutoFit/>
          </a:bodyPr>
          <a:lstStyle/>
          <a:p>
            <a:pPr algn="l"/>
            <a:r>
              <a:rPr sz="1050" b="1" i="0">
                <a:solidFill>
                  <a:srgbClr val="7C8B9A"/>
                </a:solidFill>
                <a:latin typeface="Segoe UI"/>
              </a:rPr>
              <a:t>IMPACT</a:t>
            </a:r>
          </a:p>
        </p:txBody>
      </p:sp>
      <p:sp>
        <p:nvSpPr>
          <p:cNvPr id="3" name="TextBox 2"/>
          <p:cNvSpPr txBox="1"/>
          <p:nvPr/>
        </p:nvSpPr>
        <p:spPr>
          <a:xfrm>
            <a:off x="533400" y="552450"/>
            <a:ext cx="11125200" cy="762000"/>
          </a:xfrm>
          <a:prstGeom prst="rect">
            <a:avLst/>
          </a:prstGeom>
          <a:noFill/>
        </p:spPr>
        <p:txBody>
          <a:bodyPr wrap="square" lIns="0" rIns="0" tIns="0" bIns="0" anchor="t">
            <a:spAutoFit/>
          </a:bodyPr>
          <a:lstStyle/>
          <a:p>
            <a:pPr algn="l">
              <a:lnSpc>
                <a:spcPct val="110000"/>
              </a:lnSpc>
            </a:pPr>
            <a:r>
              <a:rPr sz="2300" b="1">
                <a:solidFill>
                  <a:srgbClr val="0F2A4A"/>
                </a:solidFill>
                <a:latin typeface="Segoe UI"/>
              </a:rPr>
              <a:t>Three national statistics, each carrying its </a:t>
            </a:r>
            <a:r>
              <a:rPr sz="2300" b="0">
                <a:solidFill>
                  <a:srgbClr val="7C8B9A"/>
                </a:solidFill>
                <a:latin typeface="Segoe UI"/>
              </a:rPr>
              <a:t>source and its year</a:t>
            </a:r>
          </a:p>
        </p:txBody>
      </p:sp>
      <p:sp>
        <p:nvSpPr>
          <p:cNvPr id="4" name="Rectangle 3"/>
          <p:cNvSpPr/>
          <p:nvPr/>
        </p:nvSpPr>
        <p:spPr>
          <a:xfrm>
            <a:off x="533400" y="13525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3400" y="1543050"/>
            <a:ext cx="11125200" cy="233362"/>
          </a:xfrm>
          <a:prstGeom prst="rect">
            <a:avLst/>
          </a:prstGeom>
          <a:noFill/>
        </p:spPr>
        <p:txBody>
          <a:bodyPr wrap="square" lIns="0" rIns="0" tIns="0" bIns="0" anchor="t">
            <a:spAutoFit/>
          </a:bodyPr>
          <a:lstStyle/>
          <a:p>
            <a:pPr algn="l">
              <a:lnSpc>
                <a:spcPct val="140000"/>
              </a:lnSpc>
            </a:pPr>
            <a:r>
              <a:rPr sz="1050" b="0" i="0">
                <a:solidFill>
                  <a:srgbClr val="40505F"/>
                </a:solidFill>
                <a:latin typeface="Segoe UI"/>
              </a:rPr>
              <a:t>We verified every figure we quote. Where our own earlier draft did not survive verification, we say so on the slide rather than quietly swapping it.</a:t>
            </a:r>
          </a:p>
        </p:txBody>
      </p:sp>
      <p:sp>
        <p:nvSpPr>
          <p:cNvPr id="6" name="Rectangle 5"/>
          <p:cNvSpPr/>
          <p:nvPr/>
        </p:nvSpPr>
        <p:spPr>
          <a:xfrm>
            <a:off x="533400" y="1905000"/>
            <a:ext cx="11125200" cy="2857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33400" y="2038350"/>
            <a:ext cx="2000250" cy="247650"/>
          </a:xfrm>
          <a:prstGeom prst="rect">
            <a:avLst/>
          </a:prstGeom>
          <a:noFill/>
        </p:spPr>
        <p:txBody>
          <a:bodyPr wrap="square" lIns="0" rIns="0" tIns="0" bIns="0" anchor="t">
            <a:spAutoFit/>
          </a:bodyPr>
          <a:lstStyle/>
          <a:p>
            <a:pPr algn="l"/>
            <a:r>
              <a:rPr sz="1700" b="1" i="0">
                <a:solidFill>
                  <a:srgbClr val="0F2A4A"/>
                </a:solidFill>
                <a:latin typeface="Segoe UI"/>
              </a:rPr>
              <a:t>74.2 million</a:t>
            </a:r>
          </a:p>
        </p:txBody>
      </p:sp>
      <p:sp>
        <p:nvSpPr>
          <p:cNvPr id="8" name="TextBox 7"/>
          <p:cNvSpPr txBox="1"/>
          <p:nvPr/>
        </p:nvSpPr>
        <p:spPr>
          <a:xfrm>
            <a:off x="2667000" y="2038350"/>
            <a:ext cx="4572000" cy="666750"/>
          </a:xfrm>
          <a:prstGeom prst="rect">
            <a:avLst/>
          </a:prstGeom>
          <a:noFill/>
        </p:spPr>
        <p:txBody>
          <a:bodyPr wrap="square" lIns="0" rIns="0" tIns="0" bIns="0" anchor="t">
            <a:spAutoFit/>
          </a:bodyPr>
          <a:lstStyle/>
          <a:p>
            <a:pPr algn="l">
              <a:lnSpc>
                <a:spcPct val="135000"/>
              </a:lnSpc>
            </a:pPr>
            <a:r>
              <a:rPr sz="850" b="0" i="0">
                <a:solidFill>
                  <a:srgbClr val="40505F"/>
                </a:solidFill>
                <a:latin typeface="Segoe UI"/>
              </a:rPr>
              <a:t>Indian adults aged 20-79 with diabetes, 2021. India's own ICMR-INDIAB-17 national survey puts the same year nearer 101 million - the two use different methods and are not interchangeable, so we name the body.</a:t>
            </a:r>
          </a:p>
        </p:txBody>
      </p:sp>
      <p:sp>
        <p:nvSpPr>
          <p:cNvPr id="9" name="TextBox 8"/>
          <p:cNvSpPr txBox="1"/>
          <p:nvPr/>
        </p:nvSpPr>
        <p:spPr>
          <a:xfrm>
            <a:off x="7429500" y="2038350"/>
            <a:ext cx="4229100" cy="666750"/>
          </a:xfrm>
          <a:prstGeom prst="rect">
            <a:avLst/>
          </a:prstGeom>
          <a:noFill/>
        </p:spPr>
        <p:txBody>
          <a:bodyPr wrap="square" lIns="0" rIns="0" tIns="0" bIns="0" anchor="t">
            <a:spAutoFit/>
          </a:bodyPr>
          <a:lstStyle/>
          <a:p>
            <a:pPr algn="l">
              <a:lnSpc>
                <a:spcPct val="130000"/>
              </a:lnSpc>
            </a:pPr>
            <a:r>
              <a:rPr sz="700" b="0" i="0">
                <a:solidFill>
                  <a:srgbClr val="7C8B9A"/>
                </a:solidFill>
                <a:latin typeface="Segoe UI"/>
              </a:rPr>
              <a:t>IDF Diabetes Atlas, 10th ed. 2021 - Sun H. et al., Diabetes Res Clin Pract 2021;183:109119, doi:10.1016/j.diabres.2021.109119. ICMR-INDIAB-17 - Anjana R.M. et al., Lancet Diabetes Endocrinol 2023, doi:10.1016/S2213-8587(23)00119-5. Superseded: the widely quoted 77 million figure is the IDF 2019 estimate (9th ed.) and has been revised twice since. Do not present it as current.</a:t>
            </a:r>
          </a:p>
        </p:txBody>
      </p:sp>
      <p:sp>
        <p:nvSpPr>
          <p:cNvPr id="10" name="Rectangle 9"/>
          <p:cNvSpPr/>
          <p:nvPr/>
        </p:nvSpPr>
        <p:spPr>
          <a:xfrm>
            <a:off x="533400" y="2819400"/>
            <a:ext cx="11125200" cy="2857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33400" y="2952750"/>
            <a:ext cx="2000250" cy="247650"/>
          </a:xfrm>
          <a:prstGeom prst="rect">
            <a:avLst/>
          </a:prstGeom>
          <a:noFill/>
        </p:spPr>
        <p:txBody>
          <a:bodyPr wrap="square" lIns="0" rIns="0" tIns="0" bIns="0" anchor="t">
            <a:spAutoFit/>
          </a:bodyPr>
          <a:lstStyle/>
          <a:p>
            <a:pPr algn="l"/>
            <a:r>
              <a:rPr sz="1700" b="1" i="0">
                <a:solidFill>
                  <a:srgbClr val="0F2A4A"/>
                </a:solidFill>
                <a:latin typeface="Segoe UI"/>
              </a:rPr>
              <a:t>16.9% - 18.1%</a:t>
            </a:r>
          </a:p>
        </p:txBody>
      </p:sp>
      <p:sp>
        <p:nvSpPr>
          <p:cNvPr id="12" name="TextBox 11"/>
          <p:cNvSpPr txBox="1"/>
          <p:nvPr/>
        </p:nvSpPr>
        <p:spPr>
          <a:xfrm>
            <a:off x="2667000" y="2952750"/>
            <a:ext cx="4572000" cy="666750"/>
          </a:xfrm>
          <a:prstGeom prst="rect">
            <a:avLst/>
          </a:prstGeom>
          <a:noFill/>
        </p:spPr>
        <p:txBody>
          <a:bodyPr wrap="square" lIns="0" rIns="0" tIns="0" bIns="0" anchor="t">
            <a:spAutoFit/>
          </a:bodyPr>
          <a:lstStyle/>
          <a:p>
            <a:pPr algn="l">
              <a:lnSpc>
                <a:spcPct val="135000"/>
              </a:lnSpc>
            </a:pPr>
            <a:r>
              <a:rPr sz="850" b="0" i="0">
                <a:solidFill>
                  <a:srgbClr val="40505F"/>
                </a:solidFill>
                <a:latin typeface="Segoe UI"/>
              </a:rPr>
              <a:t>Roughly 1 in 6 to 1 in 5 Indians with diabetes aged 50 and over have diabetic retinopathy. We give the range because two national-survey-grade sources disagree, and the honest reading is a band rather than a decimal.</a:t>
            </a:r>
          </a:p>
        </p:txBody>
      </p:sp>
      <p:sp>
        <p:nvSpPr>
          <p:cNvPr id="13" name="TextBox 12"/>
          <p:cNvSpPr txBox="1"/>
          <p:nvPr/>
        </p:nvSpPr>
        <p:spPr>
          <a:xfrm>
            <a:off x="7429500" y="2952750"/>
            <a:ext cx="4229100" cy="666750"/>
          </a:xfrm>
          <a:prstGeom prst="rect">
            <a:avLst/>
          </a:prstGeom>
          <a:noFill/>
        </p:spPr>
        <p:txBody>
          <a:bodyPr wrap="square" lIns="0" rIns="0" tIns="0" bIns="0" anchor="t">
            <a:spAutoFit/>
          </a:bodyPr>
          <a:lstStyle/>
          <a:p>
            <a:pPr algn="l">
              <a:lnSpc>
                <a:spcPct val="130000"/>
              </a:lnSpc>
            </a:pPr>
            <a:r>
              <a:rPr sz="700" b="0" i="0">
                <a:solidFill>
                  <a:srgbClr val="7C8B9A"/>
                </a:solidFill>
                <a:latin typeface="Segoe UI"/>
              </a:rPr>
              <a:t>18.1% (95% CI 14.8-21.4), age 50 - Jotheeswaran A.T. et al., Indian J Endocrinol Metab 2016;20(Suppl 1):S51-S58, doi:10.4103/2230-8210.179774. 16.9% (95% CI 15.9-17.9) - MoHFW/NPCB National Survey 2015-19, Vashist P. et al., Indian J Ophthalmol 2021, doi:10.4103/ijo.IJO_1310_21. Not defensible for all adults: the same meta-analysis gives 14.9% for age 30, and the authors themselves flag their own denominator as weak.</a:t>
            </a:r>
          </a:p>
        </p:txBody>
      </p:sp>
      <p:sp>
        <p:nvSpPr>
          <p:cNvPr id="14" name="Rectangle 13"/>
          <p:cNvSpPr/>
          <p:nvPr/>
        </p:nvSpPr>
        <p:spPr>
          <a:xfrm>
            <a:off x="533400" y="3733800"/>
            <a:ext cx="11125200" cy="2857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3400" y="3867150"/>
            <a:ext cx="2000250" cy="247650"/>
          </a:xfrm>
          <a:prstGeom prst="rect">
            <a:avLst/>
          </a:prstGeom>
          <a:noFill/>
        </p:spPr>
        <p:txBody>
          <a:bodyPr wrap="square" lIns="0" rIns="0" tIns="0" bIns="0" anchor="t">
            <a:spAutoFit/>
          </a:bodyPr>
          <a:lstStyle/>
          <a:p>
            <a:pPr algn="l"/>
            <a:r>
              <a:rPr sz="1700" b="1" i="0">
                <a:solidFill>
                  <a:srgbClr val="0F2A4A"/>
                </a:solidFill>
                <a:latin typeface="Segoe UI"/>
              </a:rPr>
              <a:t>1 : 65,221</a:t>
            </a:r>
          </a:p>
        </p:txBody>
      </p:sp>
      <p:sp>
        <p:nvSpPr>
          <p:cNvPr id="16" name="TextBox 15"/>
          <p:cNvSpPr txBox="1"/>
          <p:nvPr/>
        </p:nvSpPr>
        <p:spPr>
          <a:xfrm>
            <a:off x="2667000" y="3867150"/>
            <a:ext cx="4572000" cy="666750"/>
          </a:xfrm>
          <a:prstGeom prst="rect">
            <a:avLst/>
          </a:prstGeom>
          <a:noFill/>
        </p:spPr>
        <p:txBody>
          <a:bodyPr wrap="square" lIns="0" rIns="0" tIns="0" bIns="0" anchor="t">
            <a:spAutoFit/>
          </a:bodyPr>
          <a:lstStyle/>
          <a:p>
            <a:pPr algn="l">
              <a:lnSpc>
                <a:spcPct val="135000"/>
              </a:lnSpc>
            </a:pPr>
            <a:r>
              <a:rPr sz="850" b="0" i="0">
                <a:solidFill>
                  <a:srgbClr val="40505F"/>
                </a:solidFill>
                <a:latin typeface="Segoe UI"/>
              </a:rPr>
              <a:t>Indian ophthalmologists per person, about 15 per million, nationally. The binding constraint for automated vitreoretinal grading is roughly 19x worse: about one retina specialist per 1.26 million people.</a:t>
            </a:r>
          </a:p>
        </p:txBody>
      </p:sp>
      <p:sp>
        <p:nvSpPr>
          <p:cNvPr id="17" name="TextBox 16"/>
          <p:cNvSpPr txBox="1"/>
          <p:nvPr/>
        </p:nvSpPr>
        <p:spPr>
          <a:xfrm>
            <a:off x="7429500" y="3867150"/>
            <a:ext cx="4229100" cy="666750"/>
          </a:xfrm>
          <a:prstGeom prst="rect">
            <a:avLst/>
          </a:prstGeom>
          <a:noFill/>
        </p:spPr>
        <p:txBody>
          <a:bodyPr wrap="square" lIns="0" rIns="0" tIns="0" bIns="0" anchor="t">
            <a:spAutoFit/>
          </a:bodyPr>
          <a:lstStyle/>
          <a:p>
            <a:pPr algn="l">
              <a:lnSpc>
                <a:spcPct val="130000"/>
              </a:lnSpc>
            </a:pPr>
            <a:r>
              <a:rPr sz="700" b="0" i="0">
                <a:solidFill>
                  <a:srgbClr val="7C8B9A"/>
                </a:solidFill>
                <a:latin typeface="Segoe UI"/>
              </a:rPr>
              <a:t>Vashist P. et al., Human resources and infrastructure for ophthalmic services in India, Indian J Ophthalmol 2025;73(11):1679-1686, doi:10.4103/IJO.IJO_2816_24; data collected 2020-21, 20,944 ophthalmologists. Retina specialist density: WHO 2020, cited in Vashist et al. 2021. Verification note: a lower rural scarcity figure in our own earlier draft did not survive checking - it traces to a Vision 2020 planning target for Asia, not an Indian count.</a:t>
            </a:r>
          </a:p>
        </p:txBody>
      </p:sp>
      <p:sp>
        <p:nvSpPr>
          <p:cNvPr id="18" name="TextBox 17"/>
          <p:cNvSpPr txBox="1"/>
          <p:nvPr/>
        </p:nvSpPr>
        <p:spPr>
          <a:xfrm>
            <a:off x="533400" y="4762500"/>
            <a:ext cx="11125200" cy="171450"/>
          </a:xfrm>
          <a:prstGeom prst="rect">
            <a:avLst/>
          </a:prstGeom>
          <a:noFill/>
        </p:spPr>
        <p:txBody>
          <a:bodyPr wrap="square" lIns="0" rIns="0" tIns="0" bIns="0" anchor="t">
            <a:spAutoFit/>
          </a:bodyPr>
          <a:lstStyle/>
          <a:p>
            <a:pPr algn="l"/>
            <a:r>
              <a:rPr sz="950" b="1" i="0">
                <a:solidFill>
                  <a:srgbClr val="7C8B9A"/>
                </a:solidFill>
                <a:latin typeface="Segoe UI"/>
              </a:rPr>
              <a:t>MEASURED BY US</a:t>
            </a:r>
          </a:p>
        </p:txBody>
      </p:sp>
      <p:sp>
        <p:nvSpPr>
          <p:cNvPr id="19" name="Rectangle 18"/>
          <p:cNvSpPr/>
          <p:nvPr/>
        </p:nvSpPr>
        <p:spPr>
          <a:xfrm>
            <a:off x="533400" y="4972050"/>
            <a:ext cx="2148840" cy="5524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7700" y="5048250"/>
            <a:ext cx="1920240" cy="269875"/>
          </a:xfrm>
          <a:prstGeom prst="rect">
            <a:avLst/>
          </a:prstGeom>
          <a:noFill/>
        </p:spPr>
        <p:txBody>
          <a:bodyPr wrap="square" lIns="0" rIns="0" tIns="0" bIns="0" anchor="t">
            <a:spAutoFit/>
          </a:bodyPr>
          <a:lstStyle/>
          <a:p>
            <a:pPr algn="l"/>
            <a:r>
              <a:rPr sz="1700" b="1" i="0">
                <a:solidFill>
                  <a:srgbClr val="0F2A4A"/>
                </a:solidFill>
                <a:latin typeface="Segoe UI"/>
              </a:rPr>
              <a:t>733</a:t>
            </a:r>
          </a:p>
        </p:txBody>
      </p:sp>
      <p:sp>
        <p:nvSpPr>
          <p:cNvPr id="21" name="TextBox 20"/>
          <p:cNvSpPr txBox="1"/>
          <p:nvPr/>
        </p:nvSpPr>
        <p:spPr>
          <a:xfrm>
            <a:off x="647700" y="533717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held-out images, locked validation</a:t>
            </a:r>
          </a:p>
        </p:txBody>
      </p:sp>
      <p:sp>
        <p:nvSpPr>
          <p:cNvPr id="22" name="Rectangle 21"/>
          <p:cNvSpPr/>
          <p:nvPr/>
        </p:nvSpPr>
        <p:spPr>
          <a:xfrm>
            <a:off x="2777490" y="4972050"/>
            <a:ext cx="2148840" cy="5524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891790" y="5048250"/>
            <a:ext cx="1920240" cy="269875"/>
          </a:xfrm>
          <a:prstGeom prst="rect">
            <a:avLst/>
          </a:prstGeom>
          <a:noFill/>
        </p:spPr>
        <p:txBody>
          <a:bodyPr wrap="square" lIns="0" rIns="0" tIns="0" bIns="0" anchor="t">
            <a:spAutoFit/>
          </a:bodyPr>
          <a:lstStyle/>
          <a:p>
            <a:pPr algn="l"/>
            <a:r>
              <a:rPr sz="1700" b="1" i="0">
                <a:solidFill>
                  <a:srgbClr val="0F2A4A"/>
                </a:solidFill>
                <a:latin typeface="Segoe UI"/>
              </a:rPr>
              <a:t>3,662</a:t>
            </a:r>
          </a:p>
        </p:txBody>
      </p:sp>
      <p:sp>
        <p:nvSpPr>
          <p:cNvPr id="24" name="TextBox 23"/>
          <p:cNvSpPr txBox="1"/>
          <p:nvPr/>
        </p:nvSpPr>
        <p:spPr>
          <a:xfrm>
            <a:off x="2891790" y="533717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images in the quality audit</a:t>
            </a:r>
          </a:p>
        </p:txBody>
      </p:sp>
      <p:sp>
        <p:nvSpPr>
          <p:cNvPr id="25" name="Rectangle 24"/>
          <p:cNvSpPr/>
          <p:nvPr/>
        </p:nvSpPr>
        <p:spPr>
          <a:xfrm>
            <a:off x="5021580" y="4972050"/>
            <a:ext cx="2148840" cy="5524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135880" y="5048250"/>
            <a:ext cx="1920240" cy="269875"/>
          </a:xfrm>
          <a:prstGeom prst="rect">
            <a:avLst/>
          </a:prstGeom>
          <a:noFill/>
        </p:spPr>
        <p:txBody>
          <a:bodyPr wrap="square" lIns="0" rIns="0" tIns="0" bIns="0" anchor="t">
            <a:spAutoFit/>
          </a:bodyPr>
          <a:lstStyle/>
          <a:p>
            <a:pPr algn="l"/>
            <a:r>
              <a:rPr sz="1700" b="1" i="0">
                <a:solidFill>
                  <a:srgbClr val="0F2A4A"/>
                </a:solidFill>
                <a:latin typeface="Segoe UI"/>
              </a:rPr>
              <a:t>19</a:t>
            </a:r>
          </a:p>
        </p:txBody>
      </p:sp>
      <p:sp>
        <p:nvSpPr>
          <p:cNvPr id="27" name="TextBox 26"/>
          <p:cNvSpPr txBox="1"/>
          <p:nvPr/>
        </p:nvSpPr>
        <p:spPr>
          <a:xfrm>
            <a:off x="5135880" y="533717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unseen rehearsal images, 3 cameras</a:t>
            </a:r>
          </a:p>
        </p:txBody>
      </p:sp>
      <p:sp>
        <p:nvSpPr>
          <p:cNvPr id="28" name="Rectangle 27"/>
          <p:cNvSpPr/>
          <p:nvPr/>
        </p:nvSpPr>
        <p:spPr>
          <a:xfrm>
            <a:off x="7265670" y="4972050"/>
            <a:ext cx="2148840" cy="5524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379970" y="5048250"/>
            <a:ext cx="1920240" cy="269875"/>
          </a:xfrm>
          <a:prstGeom prst="rect">
            <a:avLst/>
          </a:prstGeom>
          <a:noFill/>
        </p:spPr>
        <p:txBody>
          <a:bodyPr wrap="square" lIns="0" rIns="0" tIns="0" bIns="0" anchor="t">
            <a:spAutoFit/>
          </a:bodyPr>
          <a:lstStyle/>
          <a:p>
            <a:pPr algn="l"/>
            <a:r>
              <a:rPr sz="1700" b="1" i="0">
                <a:solidFill>
                  <a:srgbClr val="0F2A4A"/>
                </a:solidFill>
                <a:latin typeface="Segoe UI"/>
              </a:rPr>
              <a:t>250-day</a:t>
            </a:r>
          </a:p>
        </p:txBody>
      </p:sp>
      <p:sp>
        <p:nvSpPr>
          <p:cNvPr id="30" name="TextBox 29"/>
          <p:cNvSpPr txBox="1"/>
          <p:nvPr/>
        </p:nvSpPr>
        <p:spPr>
          <a:xfrm>
            <a:off x="7379970" y="533717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district simulation horizon</a:t>
            </a:r>
          </a:p>
        </p:txBody>
      </p:sp>
      <p:sp>
        <p:nvSpPr>
          <p:cNvPr id="31" name="Rectangle 30"/>
          <p:cNvSpPr/>
          <p:nvPr/>
        </p:nvSpPr>
        <p:spPr>
          <a:xfrm>
            <a:off x="9509760" y="4972050"/>
            <a:ext cx="2148840" cy="55245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624060" y="5048250"/>
            <a:ext cx="1920240" cy="269875"/>
          </a:xfrm>
          <a:prstGeom prst="rect">
            <a:avLst/>
          </a:prstGeom>
          <a:noFill/>
        </p:spPr>
        <p:txBody>
          <a:bodyPr wrap="square" lIns="0" rIns="0" tIns="0" bIns="0" anchor="t">
            <a:spAutoFit/>
          </a:bodyPr>
          <a:lstStyle/>
          <a:p>
            <a:pPr algn="l"/>
            <a:r>
              <a:rPr sz="1700" b="1" i="0">
                <a:solidFill>
                  <a:srgbClr val="0F2A4A"/>
                </a:solidFill>
                <a:latin typeface="Segoe UI"/>
              </a:rPr>
              <a:t>230/230</a:t>
            </a:r>
          </a:p>
        </p:txBody>
      </p:sp>
      <p:sp>
        <p:nvSpPr>
          <p:cNvPr id="33" name="TextBox 32"/>
          <p:cNvSpPr txBox="1"/>
          <p:nvPr/>
        </p:nvSpPr>
        <p:spPr>
          <a:xfrm>
            <a:off x="9624060" y="5337175"/>
            <a:ext cx="1920240" cy="152400"/>
          </a:xfrm>
          <a:prstGeom prst="rect">
            <a:avLst/>
          </a:prstGeom>
          <a:noFill/>
        </p:spPr>
        <p:txBody>
          <a:bodyPr wrap="square" lIns="0" rIns="0" tIns="0" bIns="0" anchor="t">
            <a:spAutoFit/>
          </a:bodyPr>
          <a:lstStyle/>
          <a:p>
            <a:pPr algn="l">
              <a:lnSpc>
                <a:spcPct val="120000"/>
              </a:lnSpc>
            </a:pPr>
            <a:r>
              <a:rPr sz="800" b="0" i="0">
                <a:solidFill>
                  <a:srgbClr val="7C8B9A"/>
                </a:solidFill>
                <a:latin typeface="Segoe UI"/>
              </a:rPr>
              <a:t>hardening programme checks PASS</a:t>
            </a:r>
          </a:p>
        </p:txBody>
      </p:sp>
      <p:sp>
        <p:nvSpPr>
          <p:cNvPr id="34" name="Rectangle 33"/>
          <p:cNvSpPr/>
          <p:nvPr/>
        </p:nvSpPr>
        <p:spPr>
          <a:xfrm>
            <a:off x="533400" y="6419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33400" y="6496050"/>
            <a:ext cx="10744200" cy="247650"/>
          </a:xfrm>
          <a:prstGeom prst="rect">
            <a:avLst/>
          </a:prstGeom>
          <a:noFill/>
        </p:spPr>
        <p:txBody>
          <a:bodyPr wrap="square" lIns="0" rIns="0" tIns="0" bIns="0" anchor="t">
            <a:spAutoFit/>
          </a:bodyPr>
          <a:lstStyle/>
          <a:p>
            <a:pPr algn="l">
              <a:lnSpc>
                <a:spcPct val="125000"/>
              </a:lnSpc>
            </a:pPr>
            <a:r>
              <a:rPr sz="750" b="0" i="0">
                <a:solidFill>
                  <a:srgbClr val="7C8B9A"/>
                </a:solidFill>
                <a:latin typeface="Segoe UI"/>
              </a:rPr>
              <a:t>Engineering prototype. Not a clinical device. No clinical validation performed. Not for diagnosis or treatment decisions.</a:t>
            </a:r>
          </a:p>
        </p:txBody>
      </p:sp>
      <p:sp>
        <p:nvSpPr>
          <p:cNvPr id="36" name="TextBox 35"/>
          <p:cNvSpPr txBox="1"/>
          <p:nvPr/>
        </p:nvSpPr>
        <p:spPr>
          <a:xfrm>
            <a:off x="11372850" y="6496050"/>
            <a:ext cx="285750" cy="133350"/>
          </a:xfrm>
          <a:prstGeom prst="rect">
            <a:avLst/>
          </a:prstGeom>
          <a:noFill/>
        </p:spPr>
        <p:txBody>
          <a:bodyPr wrap="square" lIns="0" rIns="0" tIns="0" bIns="0" anchor="t">
            <a:spAutoFit/>
          </a:bodyPr>
          <a:lstStyle/>
          <a:p>
            <a:pPr algn="l"/>
            <a:r>
              <a:rPr sz="850" b="1" i="0">
                <a:solidFill>
                  <a:srgbClr val="7C8B9A"/>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61950"/>
            <a:ext cx="11125200" cy="171450"/>
          </a:xfrm>
          <a:prstGeom prst="rect">
            <a:avLst/>
          </a:prstGeom>
          <a:noFill/>
        </p:spPr>
        <p:txBody>
          <a:bodyPr wrap="square" lIns="0" rIns="0" tIns="0" bIns="0" anchor="t">
            <a:spAutoFit/>
          </a:bodyPr>
          <a:lstStyle/>
          <a:p>
            <a:pPr algn="l"/>
            <a:r>
              <a:rPr sz="1050" b="1" i="0">
                <a:solidFill>
                  <a:srgbClr val="7C8B9A"/>
                </a:solidFill>
                <a:latin typeface="Segoe UI"/>
              </a:rPr>
              <a:t>LIMITATIONS</a:t>
            </a:r>
          </a:p>
        </p:txBody>
      </p:sp>
      <p:sp>
        <p:nvSpPr>
          <p:cNvPr id="3" name="TextBox 2"/>
          <p:cNvSpPr txBox="1"/>
          <p:nvPr/>
        </p:nvSpPr>
        <p:spPr>
          <a:xfrm>
            <a:off x="533400" y="552450"/>
            <a:ext cx="11125200" cy="762000"/>
          </a:xfrm>
          <a:prstGeom prst="rect">
            <a:avLst/>
          </a:prstGeom>
          <a:noFill/>
        </p:spPr>
        <p:txBody>
          <a:bodyPr wrap="square" lIns="0" rIns="0" tIns="0" bIns="0" anchor="t">
            <a:spAutoFit/>
          </a:bodyPr>
          <a:lstStyle/>
          <a:p>
            <a:pPr algn="l">
              <a:lnSpc>
                <a:spcPct val="110000"/>
              </a:lnSpc>
            </a:pPr>
            <a:r>
              <a:rPr sz="2300" b="1">
                <a:solidFill>
                  <a:srgbClr val="0F2A4A"/>
                </a:solidFill>
                <a:latin typeface="Segoe UI"/>
              </a:rPr>
              <a:t>What this system </a:t>
            </a:r>
            <a:r>
              <a:rPr sz="2300" b="0">
                <a:solidFill>
                  <a:srgbClr val="7C8B9A"/>
                </a:solidFill>
                <a:latin typeface="Segoe UI"/>
              </a:rPr>
              <a:t>cannot do yet</a:t>
            </a:r>
          </a:p>
        </p:txBody>
      </p:sp>
      <p:sp>
        <p:nvSpPr>
          <p:cNvPr id="4" name="Rectangle 3"/>
          <p:cNvSpPr/>
          <p:nvPr/>
        </p:nvSpPr>
        <p:spPr>
          <a:xfrm>
            <a:off x="533400" y="13525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3400" y="1543050"/>
            <a:ext cx="11125200" cy="233362"/>
          </a:xfrm>
          <a:prstGeom prst="rect">
            <a:avLst/>
          </a:prstGeom>
          <a:noFill/>
        </p:spPr>
        <p:txBody>
          <a:bodyPr wrap="square" lIns="0" rIns="0" tIns="0" bIns="0" anchor="t">
            <a:spAutoFit/>
          </a:bodyPr>
          <a:lstStyle/>
          <a:p>
            <a:pPr algn="l">
              <a:lnSpc>
                <a:spcPct val="140000"/>
              </a:lnSpc>
            </a:pPr>
            <a:r>
              <a:rPr sz="1050" b="0" i="0">
                <a:solidFill>
                  <a:srgbClr val="40505F"/>
                </a:solidFill>
                <a:latin typeface="Segoe UI"/>
              </a:rPr>
              <a:t>These are on the slide, not in the appendix. A prototype that hides its measured negatives is not safe to hand to a screening programme.</a:t>
            </a:r>
          </a:p>
        </p:txBody>
      </p:sp>
      <p:sp>
        <p:nvSpPr>
          <p:cNvPr id="6" name="Rectangle 5"/>
          <p:cNvSpPr/>
          <p:nvPr/>
        </p:nvSpPr>
        <p:spPr>
          <a:xfrm>
            <a:off x="533400" y="1866900"/>
            <a:ext cx="11125200" cy="228600"/>
          </a:xfrm>
          <a:prstGeom prst="rect">
            <a:avLst/>
          </a:prstGeom>
          <a:solidFill>
            <a:srgbClr val="EF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19125" y="1933575"/>
            <a:ext cx="2152650" cy="133350"/>
          </a:xfrm>
          <a:prstGeom prst="rect">
            <a:avLst/>
          </a:prstGeom>
          <a:noFill/>
        </p:spPr>
        <p:txBody>
          <a:bodyPr wrap="square" lIns="0" rIns="0" tIns="0" bIns="0" anchor="t">
            <a:spAutoFit/>
          </a:bodyPr>
          <a:lstStyle/>
          <a:p>
            <a:pPr algn="l"/>
            <a:r>
              <a:rPr sz="800" b="1" i="0">
                <a:solidFill>
                  <a:srgbClr val="7C8B9A"/>
                </a:solidFill>
                <a:latin typeface="Segoe UI"/>
              </a:rPr>
              <a:t>Item</a:t>
            </a:r>
          </a:p>
        </p:txBody>
      </p:sp>
      <p:sp>
        <p:nvSpPr>
          <p:cNvPr id="8" name="TextBox 7"/>
          <p:cNvSpPr txBox="1"/>
          <p:nvPr/>
        </p:nvSpPr>
        <p:spPr>
          <a:xfrm>
            <a:off x="2905125" y="1933575"/>
            <a:ext cx="3762375" cy="133350"/>
          </a:xfrm>
          <a:prstGeom prst="rect">
            <a:avLst/>
          </a:prstGeom>
          <a:noFill/>
        </p:spPr>
        <p:txBody>
          <a:bodyPr wrap="square" lIns="0" rIns="0" tIns="0" bIns="0" anchor="t">
            <a:spAutoFit/>
          </a:bodyPr>
          <a:lstStyle/>
          <a:p>
            <a:pPr algn="l"/>
            <a:r>
              <a:rPr sz="800" b="1" i="0">
                <a:solidFill>
                  <a:srgbClr val="7C8B9A"/>
                </a:solidFill>
                <a:latin typeface="Segoe UI"/>
              </a:rPr>
              <a:t>What we measured</a:t>
            </a:r>
          </a:p>
        </p:txBody>
      </p:sp>
      <p:sp>
        <p:nvSpPr>
          <p:cNvPr id="9" name="TextBox 8"/>
          <p:cNvSpPr txBox="1"/>
          <p:nvPr/>
        </p:nvSpPr>
        <p:spPr>
          <a:xfrm>
            <a:off x="6800850" y="1933575"/>
            <a:ext cx="1352550" cy="133350"/>
          </a:xfrm>
          <a:prstGeom prst="rect">
            <a:avLst/>
          </a:prstGeom>
          <a:noFill/>
        </p:spPr>
        <p:txBody>
          <a:bodyPr wrap="square" lIns="0" rIns="0" tIns="0" bIns="0" anchor="t">
            <a:spAutoFit/>
          </a:bodyPr>
          <a:lstStyle/>
          <a:p>
            <a:pPr algn="l"/>
            <a:r>
              <a:rPr sz="800" b="1" i="0">
                <a:solidFill>
                  <a:srgbClr val="7C8B9A"/>
                </a:solidFill>
                <a:latin typeface="Segoe UI"/>
              </a:rPr>
              <a:t>Status</a:t>
            </a:r>
          </a:p>
        </p:txBody>
      </p:sp>
      <p:sp>
        <p:nvSpPr>
          <p:cNvPr id="10" name="TextBox 9"/>
          <p:cNvSpPr txBox="1"/>
          <p:nvPr/>
        </p:nvSpPr>
        <p:spPr>
          <a:xfrm>
            <a:off x="8286750" y="1933575"/>
            <a:ext cx="3305175" cy="133350"/>
          </a:xfrm>
          <a:prstGeom prst="rect">
            <a:avLst/>
          </a:prstGeom>
          <a:noFill/>
        </p:spPr>
        <p:txBody>
          <a:bodyPr wrap="square" lIns="0" rIns="0" tIns="0" bIns="0" anchor="t">
            <a:spAutoFit/>
          </a:bodyPr>
          <a:lstStyle/>
          <a:p>
            <a:pPr algn="l"/>
            <a:r>
              <a:rPr sz="800" b="1" i="0">
                <a:solidFill>
                  <a:srgbClr val="7C8B9A"/>
                </a:solidFill>
                <a:latin typeface="Segoe UI"/>
              </a:rPr>
              <a:t>Blocker or owner</a:t>
            </a:r>
          </a:p>
        </p:txBody>
      </p:sp>
      <p:sp>
        <p:nvSpPr>
          <p:cNvPr id="11" name="TextBox 10"/>
          <p:cNvSpPr txBox="1"/>
          <p:nvPr/>
        </p:nvSpPr>
        <p:spPr>
          <a:xfrm>
            <a:off x="619125" y="2152650"/>
            <a:ext cx="2152650"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External validation</a:t>
            </a:r>
          </a:p>
        </p:txBody>
      </p:sp>
      <p:sp>
        <p:nvSpPr>
          <p:cNvPr id="12" name="TextBox 11"/>
          <p:cNvSpPr txBox="1"/>
          <p:nvPr/>
        </p:nvSpPr>
        <p:spPr>
          <a:xfrm>
            <a:off x="2905125" y="2152650"/>
            <a:ext cx="37623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Not performed. The reported 0.9060 / 0.9471 / 0.9796 / 0.7821 are APTOS-internal, on a single dataset.</a:t>
            </a:r>
          </a:p>
        </p:txBody>
      </p:sp>
      <p:sp>
        <p:nvSpPr>
          <p:cNvPr id="13" name="TextBox 12"/>
          <p:cNvSpPr txBox="1"/>
          <p:nvPr/>
        </p:nvSpPr>
        <p:spPr>
          <a:xfrm>
            <a:off x="6800850" y="2152650"/>
            <a:ext cx="1352550" cy="323850"/>
          </a:xfrm>
          <a:prstGeom prst="rect">
            <a:avLst/>
          </a:prstGeom>
          <a:noFill/>
        </p:spPr>
        <p:txBody>
          <a:bodyPr wrap="square" lIns="0" rIns="0" tIns="0" bIns="0" anchor="t">
            <a:spAutoFit/>
          </a:bodyPr>
          <a:lstStyle/>
          <a:p>
            <a:pPr algn="l">
              <a:lnSpc>
                <a:spcPct val="125000"/>
              </a:lnSpc>
            </a:pPr>
            <a:r>
              <a:rPr sz="750" b="1" i="0">
                <a:solidFill>
                  <a:srgbClr val="1B2430"/>
                </a:solidFill>
                <a:latin typeface="Segoe UI"/>
              </a:rPr>
              <a:t>BLOCKED</a:t>
            </a:r>
          </a:p>
        </p:txBody>
      </p:sp>
      <p:sp>
        <p:nvSpPr>
          <p:cNvPr id="14" name="TextBox 13"/>
          <p:cNvSpPr txBox="1"/>
          <p:nvPr/>
        </p:nvSpPr>
        <p:spPr>
          <a:xfrm>
            <a:off x="8286750" y="2152650"/>
            <a:ext cx="33051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Messidor-2 (ADCIS registration) and Sin-NP DR 2019 (data request) both need a human download. Harness written, 6/6 checks pass.</a:t>
            </a:r>
          </a:p>
        </p:txBody>
      </p:sp>
      <p:sp>
        <p:nvSpPr>
          <p:cNvPr id="15" name="Rectangle 14"/>
          <p:cNvSpPr/>
          <p:nvPr/>
        </p:nvSpPr>
        <p:spPr>
          <a:xfrm>
            <a:off x="533400" y="24955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3400" y="2495550"/>
            <a:ext cx="11125200" cy="40005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19125" y="2552700"/>
            <a:ext cx="2152650"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Grad-CAM vs lesion masks</a:t>
            </a:r>
          </a:p>
        </p:txBody>
      </p:sp>
      <p:sp>
        <p:nvSpPr>
          <p:cNvPr id="18" name="TextBox 17"/>
          <p:cNvSpPr txBox="1"/>
          <p:nvPr/>
        </p:nvSpPr>
        <p:spPr>
          <a:xfrm>
            <a:off x="2905125" y="2552700"/>
            <a:ext cx="37623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Saliency-in-lesion 3.1%, pointing game 7.4%, mean IoU 0.035, about 1.39x areal chance.</a:t>
            </a:r>
          </a:p>
        </p:txBody>
      </p:sp>
      <p:sp>
        <p:nvSpPr>
          <p:cNvPr id="19" name="TextBox 18"/>
          <p:cNvSpPr txBox="1"/>
          <p:nvPr/>
        </p:nvSpPr>
        <p:spPr>
          <a:xfrm>
            <a:off x="6800850" y="2552700"/>
            <a:ext cx="1352550" cy="323850"/>
          </a:xfrm>
          <a:prstGeom prst="rect">
            <a:avLst/>
          </a:prstGeom>
          <a:noFill/>
        </p:spPr>
        <p:txBody>
          <a:bodyPr wrap="square" lIns="0" rIns="0" tIns="0" bIns="0" anchor="t">
            <a:spAutoFit/>
          </a:bodyPr>
          <a:lstStyle/>
          <a:p>
            <a:pPr algn="l">
              <a:lnSpc>
                <a:spcPct val="125000"/>
              </a:lnSpc>
            </a:pPr>
            <a:r>
              <a:rPr sz="750" b="1" i="0">
                <a:solidFill>
                  <a:srgbClr val="1B2430"/>
                </a:solidFill>
                <a:latin typeface="Segoe UI"/>
              </a:rPr>
              <a:t>MEASURED WEAK</a:t>
            </a:r>
          </a:p>
        </p:txBody>
      </p:sp>
      <p:sp>
        <p:nvSpPr>
          <p:cNvPr id="20" name="TextBox 19"/>
          <p:cNvSpPr txBox="1"/>
          <p:nvPr/>
        </p:nvSpPr>
        <p:spPr>
          <a:xfrm>
            <a:off x="8286750" y="2552700"/>
            <a:ext cx="33051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MACE not measured. We did not retrain to improve a visualisation metric.</a:t>
            </a:r>
          </a:p>
        </p:txBody>
      </p:sp>
      <p:sp>
        <p:nvSpPr>
          <p:cNvPr id="21" name="Rectangle 20"/>
          <p:cNvSpPr/>
          <p:nvPr/>
        </p:nvSpPr>
        <p:spPr>
          <a:xfrm>
            <a:off x="533400" y="289560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9125" y="2952750"/>
            <a:ext cx="2152650"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Confident grade on an ungradable image</a:t>
            </a:r>
          </a:p>
        </p:txBody>
      </p:sp>
      <p:sp>
        <p:nvSpPr>
          <p:cNvPr id="23" name="TextBox 22"/>
          <p:cNvSpPr txBox="1"/>
          <p:nvPr/>
        </p:nvSpPr>
        <p:spPr>
          <a:xfrm>
            <a:off x="2905125" y="2952750"/>
            <a:ext cx="37623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One DRIMDB image the dataset labels Bad passed the quality gate and came back referable, routed CLEAR. Neither gate caught it.</a:t>
            </a:r>
          </a:p>
        </p:txBody>
      </p:sp>
      <p:sp>
        <p:nvSpPr>
          <p:cNvPr id="24" name="TextBox 23"/>
          <p:cNvSpPr txBox="1"/>
          <p:nvPr/>
        </p:nvSpPr>
        <p:spPr>
          <a:xfrm>
            <a:off x="6800850" y="2952750"/>
            <a:ext cx="1352550" cy="323850"/>
          </a:xfrm>
          <a:prstGeom prst="rect">
            <a:avLst/>
          </a:prstGeom>
          <a:noFill/>
        </p:spPr>
        <p:txBody>
          <a:bodyPr wrap="square" lIns="0" rIns="0" tIns="0" bIns="0" anchor="t">
            <a:spAutoFit/>
          </a:bodyPr>
          <a:lstStyle/>
          <a:p>
            <a:pPr algn="l">
              <a:lnSpc>
                <a:spcPct val="125000"/>
              </a:lnSpc>
            </a:pPr>
            <a:r>
              <a:rPr sz="750" b="1" i="0">
                <a:solidFill>
                  <a:srgbClr val="1B2430"/>
                </a:solidFill>
                <a:latin typeface="Segoe UI"/>
              </a:rPr>
              <a:t>OPEN</a:t>
            </a:r>
          </a:p>
        </p:txBody>
      </p:sp>
      <p:sp>
        <p:nvSpPr>
          <p:cNvPr id="25" name="TextBox 24"/>
          <p:cNvSpPr txBox="1"/>
          <p:nvPr/>
        </p:nvSpPr>
        <p:spPr>
          <a:xfrm>
            <a:off x="8286750" y="2952750"/>
            <a:ext cx="33051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Recorded, not tuned away - the threshold and OOD bound are provenance-pinned.</a:t>
            </a:r>
          </a:p>
        </p:txBody>
      </p:sp>
      <p:sp>
        <p:nvSpPr>
          <p:cNvPr id="26" name="Rectangle 25"/>
          <p:cNvSpPr/>
          <p:nvPr/>
        </p:nvSpPr>
        <p:spPr>
          <a:xfrm>
            <a:off x="533400" y="32956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33400" y="3295650"/>
            <a:ext cx="11125200" cy="40005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19125" y="3352800"/>
            <a:ext cx="2152650"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Fovea localisation</a:t>
            </a:r>
          </a:p>
        </p:txBody>
      </p:sp>
      <p:sp>
        <p:nvSpPr>
          <p:cNvPr id="29" name="TextBox 28"/>
          <p:cNvSpPr txBox="1"/>
          <p:nvPr/>
        </p:nvSpPr>
        <p:spPr>
          <a:xfrm>
            <a:off x="2905125" y="3352800"/>
            <a:ext cx="37623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0 of 10 held-out images within 300 px of ground truth.</a:t>
            </a:r>
          </a:p>
        </p:txBody>
      </p:sp>
      <p:sp>
        <p:nvSpPr>
          <p:cNvPr id="30" name="TextBox 29"/>
          <p:cNvSpPr txBox="1"/>
          <p:nvPr/>
        </p:nvSpPr>
        <p:spPr>
          <a:xfrm>
            <a:off x="6800850" y="3352800"/>
            <a:ext cx="1352550" cy="323850"/>
          </a:xfrm>
          <a:prstGeom prst="rect">
            <a:avLst/>
          </a:prstGeom>
          <a:noFill/>
        </p:spPr>
        <p:txBody>
          <a:bodyPr wrap="square" lIns="0" rIns="0" tIns="0" bIns="0" anchor="t">
            <a:spAutoFit/>
          </a:bodyPr>
          <a:lstStyle/>
          <a:p>
            <a:pPr algn="l">
              <a:lnSpc>
                <a:spcPct val="125000"/>
              </a:lnSpc>
            </a:pPr>
            <a:r>
              <a:rPr sz="750" b="1" i="0">
                <a:solidFill>
                  <a:srgbClr val="1B2430"/>
                </a:solidFill>
                <a:latin typeface="Segoe UI"/>
              </a:rPr>
              <a:t>FAILED</a:t>
            </a:r>
          </a:p>
        </p:txBody>
      </p:sp>
      <p:sp>
        <p:nvSpPr>
          <p:cNvPr id="31" name="TextBox 30"/>
          <p:cNvSpPr txBox="1"/>
          <p:nvPr/>
        </p:nvSpPr>
        <p:spPr>
          <a:xfrm>
            <a:off x="8286750" y="3352800"/>
            <a:ext cx="33051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No fovea-derived distance is emitted; the field stays unavailable with an explicit narrative line.</a:t>
            </a:r>
          </a:p>
        </p:txBody>
      </p:sp>
      <p:sp>
        <p:nvSpPr>
          <p:cNvPr id="32" name="Rectangle 31"/>
          <p:cNvSpPr/>
          <p:nvPr/>
        </p:nvSpPr>
        <p:spPr>
          <a:xfrm>
            <a:off x="533400" y="369570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19125" y="3752850"/>
            <a:ext cx="2152650"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Severe / Proliferative recall</a:t>
            </a:r>
          </a:p>
        </p:txBody>
      </p:sp>
      <p:sp>
        <p:nvSpPr>
          <p:cNvPr id="34" name="TextBox 33"/>
          <p:cNvSpPr txBox="1"/>
          <p:nvPr/>
        </p:nvSpPr>
        <p:spPr>
          <a:xfrm>
            <a:off x="2905125" y="3752850"/>
            <a:ext cx="37623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0.4872 and 0.5254 - the main 5-class weakness.</a:t>
            </a:r>
          </a:p>
        </p:txBody>
      </p:sp>
      <p:sp>
        <p:nvSpPr>
          <p:cNvPr id="35" name="TextBox 34"/>
          <p:cNvSpPr txBox="1"/>
          <p:nvPr/>
        </p:nvSpPr>
        <p:spPr>
          <a:xfrm>
            <a:off x="6800850" y="3752850"/>
            <a:ext cx="1352550" cy="323850"/>
          </a:xfrm>
          <a:prstGeom prst="rect">
            <a:avLst/>
          </a:prstGeom>
          <a:noFill/>
        </p:spPr>
        <p:txBody>
          <a:bodyPr wrap="square" lIns="0" rIns="0" tIns="0" bIns="0" anchor="t">
            <a:spAutoFit/>
          </a:bodyPr>
          <a:lstStyle/>
          <a:p>
            <a:pPr algn="l">
              <a:lnSpc>
                <a:spcPct val="125000"/>
              </a:lnSpc>
            </a:pPr>
            <a:r>
              <a:rPr sz="750" b="1" i="0">
                <a:solidFill>
                  <a:srgbClr val="1B2430"/>
                </a:solidFill>
                <a:latin typeface="Segoe UI"/>
              </a:rPr>
              <a:t>OFF BY DECISION</a:t>
            </a:r>
          </a:p>
        </p:txBody>
      </p:sp>
      <p:sp>
        <p:nvSpPr>
          <p:cNvPr id="36" name="TextBox 35"/>
          <p:cNvSpPr txBox="1"/>
          <p:nvPr/>
        </p:nvSpPr>
        <p:spPr>
          <a:xfrm>
            <a:off x="8286750" y="3752850"/>
            <a:ext cx="33051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Target-boosted weighting and targeted augmentation are disabled in the training script. Owner: mentor approval.</a:t>
            </a:r>
          </a:p>
        </p:txBody>
      </p:sp>
      <p:sp>
        <p:nvSpPr>
          <p:cNvPr id="37" name="Rectangle 36"/>
          <p:cNvSpPr/>
          <p:nvPr/>
        </p:nvSpPr>
        <p:spPr>
          <a:xfrm>
            <a:off x="533400" y="40957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33400" y="4095750"/>
            <a:ext cx="11125200" cy="40005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19125" y="4152900"/>
            <a:ext cx="2152650"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Microaneurysm detection</a:t>
            </a:r>
          </a:p>
        </p:txBody>
      </p:sp>
      <p:sp>
        <p:nvSpPr>
          <p:cNvPr id="40" name="TextBox 39"/>
          <p:cNvSpPr txBox="1"/>
          <p:nvPr/>
        </p:nvSpPr>
        <p:spPr>
          <a:xfrm>
            <a:off x="2905125" y="4152900"/>
            <a:ext cx="37623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Patch AUC 0.976, but detection recall only 0.113 at the evaluated threshold.</a:t>
            </a:r>
          </a:p>
        </p:txBody>
      </p:sp>
      <p:sp>
        <p:nvSpPr>
          <p:cNvPr id="41" name="TextBox 40"/>
          <p:cNvSpPr txBox="1"/>
          <p:nvPr/>
        </p:nvSpPr>
        <p:spPr>
          <a:xfrm>
            <a:off x="6800850" y="4152900"/>
            <a:ext cx="1352550" cy="323850"/>
          </a:xfrm>
          <a:prstGeom prst="rect">
            <a:avLst/>
          </a:prstGeom>
          <a:noFill/>
        </p:spPr>
        <p:txBody>
          <a:bodyPr wrap="square" lIns="0" rIns="0" tIns="0" bIns="0" anchor="t">
            <a:spAutoFit/>
          </a:bodyPr>
          <a:lstStyle/>
          <a:p>
            <a:pPr algn="l">
              <a:lnSpc>
                <a:spcPct val="125000"/>
              </a:lnSpc>
            </a:pPr>
            <a:r>
              <a:rPr sz="750" b="1" i="0">
                <a:solidFill>
                  <a:srgbClr val="1B2430"/>
                </a:solidFill>
                <a:latin typeface="Segoe UI"/>
              </a:rPr>
              <a:t>LOW RECALL</a:t>
            </a:r>
          </a:p>
        </p:txBody>
      </p:sp>
      <p:sp>
        <p:nvSpPr>
          <p:cNvPr id="42" name="TextBox 41"/>
          <p:cNvSpPr txBox="1"/>
          <p:nvPr/>
        </p:nvSpPr>
        <p:spPr>
          <a:xfrm>
            <a:off x="8286750" y="4152900"/>
            <a:ext cx="33051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Counts are reported as candidates, never as findings.</a:t>
            </a:r>
          </a:p>
        </p:txBody>
      </p:sp>
      <p:sp>
        <p:nvSpPr>
          <p:cNvPr id="43" name="Rectangle 42"/>
          <p:cNvSpPr/>
          <p:nvPr/>
        </p:nvSpPr>
        <p:spPr>
          <a:xfrm>
            <a:off x="533400" y="449580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19125" y="4552950"/>
            <a:ext cx="2152650"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Optic-disc generalisation</a:t>
            </a:r>
          </a:p>
        </p:txBody>
      </p:sp>
      <p:sp>
        <p:nvSpPr>
          <p:cNvPr id="45" name="TextBox 44"/>
          <p:cNvSpPr txBox="1"/>
          <p:nvPr/>
        </p:nvSpPr>
        <p:spPr>
          <a:xfrm>
            <a:off x="2905125" y="4552950"/>
            <a:ext cx="37623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Locates 9/10 within 300 px on IDRiD, but only 10.6% acceptance on APTOS validation.</a:t>
            </a:r>
          </a:p>
        </p:txBody>
      </p:sp>
      <p:sp>
        <p:nvSpPr>
          <p:cNvPr id="46" name="TextBox 45"/>
          <p:cNvSpPr txBox="1"/>
          <p:nvPr/>
        </p:nvSpPr>
        <p:spPr>
          <a:xfrm>
            <a:off x="6800850" y="4552950"/>
            <a:ext cx="1352550" cy="323850"/>
          </a:xfrm>
          <a:prstGeom prst="rect">
            <a:avLst/>
          </a:prstGeom>
          <a:noFill/>
        </p:spPr>
        <p:txBody>
          <a:bodyPr wrap="square" lIns="0" rIns="0" tIns="0" bIns="0" anchor="t">
            <a:spAutoFit/>
          </a:bodyPr>
          <a:lstStyle/>
          <a:p>
            <a:pPr algn="l">
              <a:lnSpc>
                <a:spcPct val="125000"/>
              </a:lnSpc>
            </a:pPr>
            <a:r>
              <a:rPr sz="750" b="1" i="0">
                <a:solidFill>
                  <a:srgbClr val="1B2430"/>
                </a:solidFill>
                <a:latin typeface="Segoe UI"/>
              </a:rPr>
              <a:t>LIMITED</a:t>
            </a:r>
          </a:p>
        </p:txBody>
      </p:sp>
      <p:sp>
        <p:nvSpPr>
          <p:cNvPr id="47" name="TextBox 46"/>
          <p:cNvSpPr txBox="1"/>
          <p:nvPr/>
        </p:nvSpPr>
        <p:spPr>
          <a:xfrm>
            <a:off x="8286750" y="4552950"/>
            <a:ext cx="33051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Trained on a different camera set; the honest hardware-threshold refusal works as designed.</a:t>
            </a:r>
          </a:p>
        </p:txBody>
      </p:sp>
      <p:sp>
        <p:nvSpPr>
          <p:cNvPr id="48" name="Rectangle 47"/>
          <p:cNvSpPr/>
          <p:nvPr/>
        </p:nvSpPr>
        <p:spPr>
          <a:xfrm>
            <a:off x="533400" y="4895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533400" y="4895850"/>
            <a:ext cx="11125200" cy="40005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19125" y="4953000"/>
            <a:ext cx="2152650"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Image enhancement</a:t>
            </a:r>
          </a:p>
        </p:txBody>
      </p:sp>
      <p:sp>
        <p:nvSpPr>
          <p:cNvPr id="51" name="TextBox 50"/>
          <p:cNvSpPr txBox="1"/>
          <p:nvPr/>
        </p:nvSpPr>
        <p:spPr>
          <a:xfrm>
            <a:off x="2905125" y="4953000"/>
            <a:ext cx="37623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The A/B experiment showed it degraded grading.</a:t>
            </a:r>
          </a:p>
        </p:txBody>
      </p:sp>
      <p:sp>
        <p:nvSpPr>
          <p:cNvPr id="52" name="TextBox 51"/>
          <p:cNvSpPr txBox="1"/>
          <p:nvPr/>
        </p:nvSpPr>
        <p:spPr>
          <a:xfrm>
            <a:off x="6800850" y="4953000"/>
            <a:ext cx="1352550" cy="323850"/>
          </a:xfrm>
          <a:prstGeom prst="rect">
            <a:avLst/>
          </a:prstGeom>
          <a:noFill/>
        </p:spPr>
        <p:txBody>
          <a:bodyPr wrap="square" lIns="0" rIns="0" tIns="0" bIns="0" anchor="t">
            <a:spAutoFit/>
          </a:bodyPr>
          <a:lstStyle/>
          <a:p>
            <a:pPr algn="l">
              <a:lnSpc>
                <a:spcPct val="125000"/>
              </a:lnSpc>
            </a:pPr>
            <a:r>
              <a:rPr sz="750" b="1" i="0">
                <a:solidFill>
                  <a:srgbClr val="1B2430"/>
                </a:solidFill>
                <a:latin typeface="Segoe UI"/>
              </a:rPr>
              <a:t>EXCLUDED ON EVIDENCE</a:t>
            </a:r>
          </a:p>
        </p:txBody>
      </p:sp>
      <p:sp>
        <p:nvSpPr>
          <p:cNvPr id="53" name="TextBox 52"/>
          <p:cNvSpPr txBox="1"/>
          <p:nvPr/>
        </p:nvSpPr>
        <p:spPr>
          <a:xfrm>
            <a:off x="8286750" y="4953000"/>
            <a:ext cx="33051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Excluded from the inference path; retained as a display aid only.</a:t>
            </a:r>
          </a:p>
        </p:txBody>
      </p:sp>
      <p:sp>
        <p:nvSpPr>
          <p:cNvPr id="54" name="Rectangle 53"/>
          <p:cNvSpPr/>
          <p:nvPr/>
        </p:nvSpPr>
        <p:spPr>
          <a:xfrm>
            <a:off x="533400" y="529590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19125" y="5353050"/>
            <a:ext cx="2152650"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Vessel segmentation</a:t>
            </a:r>
          </a:p>
        </p:txBody>
      </p:sp>
      <p:sp>
        <p:nvSpPr>
          <p:cNvPr id="56" name="TextBox 55"/>
          <p:cNvSpPr txBox="1"/>
          <p:nvPr/>
        </p:nvSpPr>
        <p:spPr>
          <a:xfrm>
            <a:off x="2905125" y="5353050"/>
            <a:ext cx="37623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Adding vessel features moved Branch-B AUC from 0.8969 to 0.8810.</a:t>
            </a:r>
          </a:p>
        </p:txBody>
      </p:sp>
      <p:sp>
        <p:nvSpPr>
          <p:cNvPr id="57" name="TextBox 56"/>
          <p:cNvSpPr txBox="1"/>
          <p:nvPr/>
        </p:nvSpPr>
        <p:spPr>
          <a:xfrm>
            <a:off x="6800850" y="5353050"/>
            <a:ext cx="1352550" cy="323850"/>
          </a:xfrm>
          <a:prstGeom prst="rect">
            <a:avLst/>
          </a:prstGeom>
          <a:noFill/>
        </p:spPr>
        <p:txBody>
          <a:bodyPr wrap="square" lIns="0" rIns="0" tIns="0" bIns="0" anchor="t">
            <a:spAutoFit/>
          </a:bodyPr>
          <a:lstStyle/>
          <a:p>
            <a:pPr algn="l">
              <a:lnSpc>
                <a:spcPct val="125000"/>
              </a:lnSpc>
            </a:pPr>
            <a:r>
              <a:rPr sz="750" b="1" i="0">
                <a:solidFill>
                  <a:srgbClr val="1B2430"/>
                </a:solidFill>
                <a:latin typeface="Segoe UI"/>
              </a:rPr>
              <a:t>EXCLUDED ON EVIDENCE</a:t>
            </a:r>
          </a:p>
        </p:txBody>
      </p:sp>
      <p:sp>
        <p:nvSpPr>
          <p:cNvPr id="58" name="TextBox 57"/>
          <p:cNvSpPr txBox="1"/>
          <p:nvPr/>
        </p:nvSpPr>
        <p:spPr>
          <a:xfrm>
            <a:off x="8286750" y="5353050"/>
            <a:ext cx="3305175" cy="323850"/>
          </a:xfrm>
          <a:prstGeom prst="rect">
            <a:avLst/>
          </a:prstGeom>
          <a:noFill/>
        </p:spPr>
        <p:txBody>
          <a:bodyPr wrap="square" lIns="0" rIns="0" tIns="0" bIns="0" anchor="t">
            <a:spAutoFit/>
          </a:bodyPr>
          <a:lstStyle/>
          <a:p>
            <a:pPr algn="l">
              <a:lnSpc>
                <a:spcPct val="125000"/>
              </a:lnSpc>
            </a:pPr>
            <a:r>
              <a:rPr sz="750" b="0" i="0">
                <a:solidFill>
                  <a:srgbClr val="40505F"/>
                </a:solidFill>
                <a:latin typeface="Segoe UI"/>
              </a:rPr>
              <a:t>Measured negative result, kept in the record rather than forced into production.</a:t>
            </a:r>
          </a:p>
        </p:txBody>
      </p:sp>
      <p:sp>
        <p:nvSpPr>
          <p:cNvPr id="59" name="Rectangle 58"/>
          <p:cNvSpPr/>
          <p:nvPr/>
        </p:nvSpPr>
        <p:spPr>
          <a:xfrm>
            <a:off x="533400" y="56959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533400" y="6419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533400" y="6496050"/>
            <a:ext cx="10744200" cy="247650"/>
          </a:xfrm>
          <a:prstGeom prst="rect">
            <a:avLst/>
          </a:prstGeom>
          <a:noFill/>
        </p:spPr>
        <p:txBody>
          <a:bodyPr wrap="square" lIns="0" rIns="0" tIns="0" bIns="0" anchor="t">
            <a:spAutoFit/>
          </a:bodyPr>
          <a:lstStyle/>
          <a:p>
            <a:pPr algn="l">
              <a:lnSpc>
                <a:spcPct val="125000"/>
              </a:lnSpc>
            </a:pPr>
            <a:r>
              <a:rPr sz="750" b="0" i="0">
                <a:solidFill>
                  <a:srgbClr val="7C8B9A"/>
                </a:solidFill>
                <a:latin typeface="Segoe UI"/>
              </a:rPr>
              <a:t>Engineering prototype. Not a clinical device. No clinical validation performed. Not for diagnosis or treatment decisions.</a:t>
            </a:r>
          </a:p>
        </p:txBody>
      </p:sp>
      <p:sp>
        <p:nvSpPr>
          <p:cNvPr id="62" name="TextBox 61"/>
          <p:cNvSpPr txBox="1"/>
          <p:nvPr/>
        </p:nvSpPr>
        <p:spPr>
          <a:xfrm>
            <a:off x="11372850" y="6496050"/>
            <a:ext cx="285750" cy="133350"/>
          </a:xfrm>
          <a:prstGeom prst="rect">
            <a:avLst/>
          </a:prstGeom>
          <a:noFill/>
        </p:spPr>
        <p:txBody>
          <a:bodyPr wrap="square" lIns="0" rIns="0" tIns="0" bIns="0" anchor="t">
            <a:spAutoFit/>
          </a:bodyPr>
          <a:lstStyle/>
          <a:p>
            <a:pPr algn="l"/>
            <a:r>
              <a:rPr sz="850" b="1" i="0">
                <a:solidFill>
                  <a:srgbClr val="7C8B9A"/>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61950"/>
            <a:ext cx="11125200" cy="171450"/>
          </a:xfrm>
          <a:prstGeom prst="rect">
            <a:avLst/>
          </a:prstGeom>
          <a:noFill/>
        </p:spPr>
        <p:txBody>
          <a:bodyPr wrap="square" lIns="0" rIns="0" tIns="0" bIns="0" anchor="t">
            <a:spAutoFit/>
          </a:bodyPr>
          <a:lstStyle/>
          <a:p>
            <a:pPr algn="l"/>
            <a:r>
              <a:rPr sz="1050" b="1" i="0">
                <a:solidFill>
                  <a:srgbClr val="7C8B9A"/>
                </a:solidFill>
                <a:latin typeface="Segoe UI"/>
              </a:rPr>
              <a:t>TEAM, RESOURCES AND REFERENCES</a:t>
            </a:r>
          </a:p>
        </p:txBody>
      </p:sp>
      <p:sp>
        <p:nvSpPr>
          <p:cNvPr id="3" name="TextBox 2"/>
          <p:cNvSpPr txBox="1"/>
          <p:nvPr/>
        </p:nvSpPr>
        <p:spPr>
          <a:xfrm>
            <a:off x="533400" y="552450"/>
            <a:ext cx="11125200" cy="762000"/>
          </a:xfrm>
          <a:prstGeom prst="rect">
            <a:avLst/>
          </a:prstGeom>
          <a:noFill/>
        </p:spPr>
        <p:txBody>
          <a:bodyPr wrap="square" lIns="0" rIns="0" tIns="0" bIns="0" anchor="t">
            <a:spAutoFit/>
          </a:bodyPr>
          <a:lstStyle/>
          <a:p>
            <a:pPr algn="l">
              <a:lnSpc>
                <a:spcPct val="110000"/>
              </a:lnSpc>
            </a:pPr>
            <a:r>
              <a:rPr sz="2300" b="1">
                <a:solidFill>
                  <a:srgbClr val="0F2A4A"/>
                </a:solidFill>
                <a:latin typeface="Segoe UI"/>
              </a:rPr>
              <a:t>Everything here is reproducible from a </a:t>
            </a:r>
            <a:r>
              <a:rPr sz="2300" b="0">
                <a:solidFill>
                  <a:srgbClr val="7C8B9A"/>
                </a:solidFill>
                <a:latin typeface="Segoe UI"/>
              </a:rPr>
              <a:t>public repository</a:t>
            </a:r>
          </a:p>
        </p:txBody>
      </p:sp>
      <p:sp>
        <p:nvSpPr>
          <p:cNvPr id="4" name="Rectangle 3"/>
          <p:cNvSpPr/>
          <p:nvPr/>
        </p:nvSpPr>
        <p:spPr>
          <a:xfrm>
            <a:off x="533400" y="1352550"/>
            <a:ext cx="590550" cy="28575"/>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3400" y="1562100"/>
            <a:ext cx="1238250" cy="152400"/>
          </a:xfrm>
          <a:prstGeom prst="rect">
            <a:avLst/>
          </a:prstGeom>
          <a:noFill/>
        </p:spPr>
        <p:txBody>
          <a:bodyPr wrap="square" lIns="0" rIns="0" tIns="0" bIns="0" anchor="t">
            <a:spAutoFit/>
          </a:bodyPr>
          <a:lstStyle/>
          <a:p>
            <a:pPr algn="l"/>
            <a:r>
              <a:rPr sz="900" b="1" i="0">
                <a:solidFill>
                  <a:srgbClr val="7C8B9A"/>
                </a:solidFill>
                <a:latin typeface="Segoe UI"/>
              </a:rPr>
              <a:t>Entry</a:t>
            </a:r>
          </a:p>
        </p:txBody>
      </p:sp>
      <p:sp>
        <p:nvSpPr>
          <p:cNvPr id="6" name="TextBox 5"/>
          <p:cNvSpPr txBox="1"/>
          <p:nvPr/>
        </p:nvSpPr>
        <p:spPr>
          <a:xfrm>
            <a:off x="1866900" y="1562100"/>
            <a:ext cx="4476750" cy="285750"/>
          </a:xfrm>
          <a:prstGeom prst="rect">
            <a:avLst/>
          </a:prstGeom>
          <a:noFill/>
        </p:spPr>
        <p:txBody>
          <a:bodyPr wrap="square" lIns="0" rIns="0" tIns="0" bIns="0" anchor="t">
            <a:spAutoFit/>
          </a:bodyPr>
          <a:lstStyle/>
          <a:p>
            <a:pPr algn="l">
              <a:lnSpc>
                <a:spcPct val="130000"/>
              </a:lnSpc>
            </a:pPr>
            <a:r>
              <a:rPr sz="850" b="0" i="0">
                <a:solidFill>
                  <a:srgbClr val="40505F"/>
                </a:solidFill>
                <a:latin typeface="Segoe UI"/>
              </a:rPr>
              <a:t>Problem statement SIH 26038 * sponsor MathWorks</a:t>
            </a:r>
          </a:p>
        </p:txBody>
      </p:sp>
      <p:sp>
        <p:nvSpPr>
          <p:cNvPr id="7" name="TextBox 6"/>
          <p:cNvSpPr txBox="1"/>
          <p:nvPr/>
        </p:nvSpPr>
        <p:spPr>
          <a:xfrm>
            <a:off x="533400" y="1885950"/>
            <a:ext cx="1238250" cy="152400"/>
          </a:xfrm>
          <a:prstGeom prst="rect">
            <a:avLst/>
          </a:prstGeom>
          <a:noFill/>
        </p:spPr>
        <p:txBody>
          <a:bodyPr wrap="square" lIns="0" rIns="0" tIns="0" bIns="0" anchor="t">
            <a:spAutoFit/>
          </a:bodyPr>
          <a:lstStyle/>
          <a:p>
            <a:pPr algn="l"/>
            <a:r>
              <a:rPr sz="900" b="1" i="0">
                <a:solidFill>
                  <a:srgbClr val="7C8B9A"/>
                </a:solidFill>
                <a:latin typeface="Segoe UI"/>
              </a:rPr>
              <a:t>Team</a:t>
            </a:r>
          </a:p>
        </p:txBody>
      </p:sp>
      <p:sp>
        <p:nvSpPr>
          <p:cNvPr id="8" name="TextBox 7"/>
          <p:cNvSpPr txBox="1"/>
          <p:nvPr/>
        </p:nvSpPr>
        <p:spPr>
          <a:xfrm>
            <a:off x="1866900" y="1885950"/>
            <a:ext cx="4476750" cy="285750"/>
          </a:xfrm>
          <a:prstGeom prst="rect">
            <a:avLst/>
          </a:prstGeom>
          <a:noFill/>
        </p:spPr>
        <p:txBody>
          <a:bodyPr wrap="square" lIns="0" rIns="0" tIns="0" bIns="0" anchor="t">
            <a:spAutoFit/>
          </a:bodyPr>
          <a:lstStyle/>
          <a:p>
            <a:pPr algn="l">
              <a:lnSpc>
                <a:spcPct val="130000"/>
              </a:lnSpc>
            </a:pPr>
            <a:r>
              <a:rPr sz="850" b="0" i="0">
                <a:solidFill>
                  <a:srgbClr val="40505F"/>
                </a:solidFill>
                <a:latin typeface="Segoe UI"/>
              </a:rPr>
              <a:t>6 members + mentors * SIH Team ID __________</a:t>
            </a:r>
          </a:p>
        </p:txBody>
      </p:sp>
      <p:sp>
        <p:nvSpPr>
          <p:cNvPr id="9" name="TextBox 8"/>
          <p:cNvSpPr txBox="1"/>
          <p:nvPr/>
        </p:nvSpPr>
        <p:spPr>
          <a:xfrm>
            <a:off x="533400" y="2209800"/>
            <a:ext cx="1238250" cy="152400"/>
          </a:xfrm>
          <a:prstGeom prst="rect">
            <a:avLst/>
          </a:prstGeom>
          <a:noFill/>
        </p:spPr>
        <p:txBody>
          <a:bodyPr wrap="square" lIns="0" rIns="0" tIns="0" bIns="0" anchor="t">
            <a:spAutoFit/>
          </a:bodyPr>
          <a:lstStyle/>
          <a:p>
            <a:pPr algn="l"/>
            <a:r>
              <a:rPr sz="900" b="1" i="0">
                <a:solidFill>
                  <a:srgbClr val="7C8B9A"/>
                </a:solidFill>
                <a:latin typeface="Segoe UI"/>
              </a:rPr>
              <a:t>Repository</a:t>
            </a:r>
          </a:p>
        </p:txBody>
      </p:sp>
      <p:sp>
        <p:nvSpPr>
          <p:cNvPr id="10" name="TextBox 9"/>
          <p:cNvSpPr txBox="1"/>
          <p:nvPr/>
        </p:nvSpPr>
        <p:spPr>
          <a:xfrm>
            <a:off x="1866900" y="2209800"/>
            <a:ext cx="4476750" cy="285750"/>
          </a:xfrm>
          <a:prstGeom prst="rect">
            <a:avLst/>
          </a:prstGeom>
          <a:noFill/>
        </p:spPr>
        <p:txBody>
          <a:bodyPr wrap="square" lIns="0" rIns="0" tIns="0" bIns="0" anchor="t">
            <a:spAutoFit/>
          </a:bodyPr>
          <a:lstStyle/>
          <a:p>
            <a:pPr algn="l">
              <a:lnSpc>
                <a:spcPct val="130000"/>
              </a:lnSpc>
            </a:pPr>
            <a:r>
              <a:rPr sz="850" b="0" i="0">
                <a:solidFill>
                  <a:srgbClr val="40505F"/>
                </a:solidFill>
                <a:latin typeface="Segoe UI"/>
              </a:rPr>
              <a:t>github.com/Aryan41211/DrishtiCare</a:t>
            </a:r>
          </a:p>
        </p:txBody>
      </p:sp>
      <p:sp>
        <p:nvSpPr>
          <p:cNvPr id="11" name="TextBox 10"/>
          <p:cNvSpPr txBox="1"/>
          <p:nvPr/>
        </p:nvSpPr>
        <p:spPr>
          <a:xfrm>
            <a:off x="533400" y="2533650"/>
            <a:ext cx="1238250" cy="152400"/>
          </a:xfrm>
          <a:prstGeom prst="rect">
            <a:avLst/>
          </a:prstGeom>
          <a:noFill/>
        </p:spPr>
        <p:txBody>
          <a:bodyPr wrap="square" lIns="0" rIns="0" tIns="0" bIns="0" anchor="t">
            <a:spAutoFit/>
          </a:bodyPr>
          <a:lstStyle/>
          <a:p>
            <a:pPr algn="l"/>
            <a:r>
              <a:rPr sz="900" b="1" i="0">
                <a:solidFill>
                  <a:srgbClr val="7C8B9A"/>
                </a:solidFill>
                <a:latin typeface="Segoe UI"/>
              </a:rPr>
              <a:t>Stack</a:t>
            </a:r>
          </a:p>
        </p:txBody>
      </p:sp>
      <p:sp>
        <p:nvSpPr>
          <p:cNvPr id="12" name="TextBox 11"/>
          <p:cNvSpPr txBox="1"/>
          <p:nvPr/>
        </p:nvSpPr>
        <p:spPr>
          <a:xfrm>
            <a:off x="1866900" y="2533650"/>
            <a:ext cx="4476750" cy="285750"/>
          </a:xfrm>
          <a:prstGeom prst="rect">
            <a:avLst/>
          </a:prstGeom>
          <a:noFill/>
        </p:spPr>
        <p:txBody>
          <a:bodyPr wrap="square" lIns="0" rIns="0" tIns="0" bIns="0" anchor="t">
            <a:spAutoFit/>
          </a:bodyPr>
          <a:lstStyle/>
          <a:p>
            <a:pPr algn="l">
              <a:lnSpc>
                <a:spcPct val="130000"/>
              </a:lnSpc>
            </a:pPr>
            <a:r>
              <a:rPr sz="850" b="0" i="0">
                <a:solidFill>
                  <a:srgbClr val="40505F"/>
                </a:solidFill>
                <a:latin typeface="Segoe UI"/>
              </a:rPr>
              <a:t>MATLAB and Simulink; ResNet-18 transfer learning, EyePACS-pretrained, class-balanced</a:t>
            </a:r>
          </a:p>
        </p:txBody>
      </p:sp>
      <p:sp>
        <p:nvSpPr>
          <p:cNvPr id="13" name="TextBox 12"/>
          <p:cNvSpPr txBox="1"/>
          <p:nvPr/>
        </p:nvSpPr>
        <p:spPr>
          <a:xfrm>
            <a:off x="533400" y="2857500"/>
            <a:ext cx="1238250" cy="152400"/>
          </a:xfrm>
          <a:prstGeom prst="rect">
            <a:avLst/>
          </a:prstGeom>
          <a:noFill/>
        </p:spPr>
        <p:txBody>
          <a:bodyPr wrap="square" lIns="0" rIns="0" tIns="0" bIns="0" anchor="t">
            <a:spAutoFit/>
          </a:bodyPr>
          <a:lstStyle/>
          <a:p>
            <a:pPr algn="l"/>
            <a:r>
              <a:rPr sz="900" b="1" i="0">
                <a:solidFill>
                  <a:srgbClr val="7C8B9A"/>
                </a:solidFill>
                <a:latin typeface="Segoe UI"/>
              </a:rPr>
              <a:t>Launch</a:t>
            </a:r>
          </a:p>
        </p:txBody>
      </p:sp>
      <p:sp>
        <p:nvSpPr>
          <p:cNvPr id="14" name="TextBox 13"/>
          <p:cNvSpPr txBox="1"/>
          <p:nvPr/>
        </p:nvSpPr>
        <p:spPr>
          <a:xfrm>
            <a:off x="1866900" y="2857500"/>
            <a:ext cx="4476750" cy="285750"/>
          </a:xfrm>
          <a:prstGeom prst="rect">
            <a:avLst/>
          </a:prstGeom>
          <a:noFill/>
        </p:spPr>
        <p:txBody>
          <a:bodyPr wrap="square" lIns="0" rIns="0" tIns="0" bIns="0" anchor="t">
            <a:spAutoFit/>
          </a:bodyPr>
          <a:lstStyle/>
          <a:p>
            <a:pPr algn="l">
              <a:lnSpc>
                <a:spcPct val="130000"/>
              </a:lnSpc>
            </a:pPr>
            <a:r>
              <a:rPr sz="850" b="0" i="0">
                <a:solidFill>
                  <a:srgbClr val="40505F"/>
                </a:solidFill>
                <a:latin typeface="Segoe UI"/>
              </a:rPr>
              <a:t>launchRetinaAI.m from the repository root</a:t>
            </a:r>
          </a:p>
        </p:txBody>
      </p:sp>
      <p:sp>
        <p:nvSpPr>
          <p:cNvPr id="15" name="TextBox 14"/>
          <p:cNvSpPr txBox="1"/>
          <p:nvPr/>
        </p:nvSpPr>
        <p:spPr>
          <a:xfrm>
            <a:off x="533400" y="3181350"/>
            <a:ext cx="1238250" cy="152400"/>
          </a:xfrm>
          <a:prstGeom prst="rect">
            <a:avLst/>
          </a:prstGeom>
          <a:noFill/>
        </p:spPr>
        <p:txBody>
          <a:bodyPr wrap="square" lIns="0" rIns="0" tIns="0" bIns="0" anchor="t">
            <a:spAutoFit/>
          </a:bodyPr>
          <a:lstStyle/>
          <a:p>
            <a:pPr algn="l"/>
            <a:r>
              <a:rPr sz="900" b="1" i="0">
                <a:solidFill>
                  <a:srgbClr val="7C8B9A"/>
                </a:solidFill>
                <a:latin typeface="Segoe UI"/>
              </a:rPr>
              <a:t>Governance</a:t>
            </a:r>
          </a:p>
        </p:txBody>
      </p:sp>
      <p:sp>
        <p:nvSpPr>
          <p:cNvPr id="16" name="TextBox 15"/>
          <p:cNvSpPr txBox="1"/>
          <p:nvPr/>
        </p:nvSpPr>
        <p:spPr>
          <a:xfrm>
            <a:off x="1866900" y="3181350"/>
            <a:ext cx="4476750" cy="285750"/>
          </a:xfrm>
          <a:prstGeom prst="rect">
            <a:avLst/>
          </a:prstGeom>
          <a:noFill/>
        </p:spPr>
        <p:txBody>
          <a:bodyPr wrap="square" lIns="0" rIns="0" tIns="0" bIns="0" anchor="t">
            <a:spAutoFit/>
          </a:bodyPr>
          <a:lstStyle/>
          <a:p>
            <a:pPr algn="l">
              <a:lnSpc>
                <a:spcPct val="130000"/>
              </a:lnSpc>
            </a:pPr>
            <a:r>
              <a:rPr sz="850" b="0" i="0">
                <a:solidFill>
                  <a:srgbClr val="40505F"/>
                </a:solidFill>
                <a:latin typeface="Segoe UI"/>
              </a:rPr>
              <a:t>frozen model contract with SHA-256 hashes, a decision log, and a per-task evidence record</a:t>
            </a:r>
          </a:p>
        </p:txBody>
      </p:sp>
      <p:sp>
        <p:nvSpPr>
          <p:cNvPr id="17" name="TextBox 16"/>
          <p:cNvSpPr txBox="1"/>
          <p:nvPr/>
        </p:nvSpPr>
        <p:spPr>
          <a:xfrm>
            <a:off x="6667500" y="1562100"/>
            <a:ext cx="4991100" cy="171450"/>
          </a:xfrm>
          <a:prstGeom prst="rect">
            <a:avLst/>
          </a:prstGeom>
          <a:noFill/>
        </p:spPr>
        <p:txBody>
          <a:bodyPr wrap="square" lIns="0" rIns="0" tIns="0" bIns="0" anchor="t">
            <a:spAutoFit/>
          </a:bodyPr>
          <a:lstStyle/>
          <a:p>
            <a:pPr algn="l"/>
            <a:r>
              <a:rPr sz="900" b="1" i="0">
                <a:solidFill>
                  <a:srgbClr val="7C8B9A"/>
                </a:solidFill>
                <a:latin typeface="Segoe UI"/>
              </a:rPr>
              <a:t>DATASETS, STATED PLAINLY</a:t>
            </a:r>
          </a:p>
        </p:txBody>
      </p:sp>
      <p:sp>
        <p:nvSpPr>
          <p:cNvPr id="18" name="TextBox 17"/>
          <p:cNvSpPr txBox="1"/>
          <p:nvPr/>
        </p:nvSpPr>
        <p:spPr>
          <a:xfrm>
            <a:off x="6667500" y="1771650"/>
            <a:ext cx="1714500" cy="152400"/>
          </a:xfrm>
          <a:prstGeom prst="rect">
            <a:avLst/>
          </a:prstGeom>
          <a:noFill/>
        </p:spPr>
        <p:txBody>
          <a:bodyPr wrap="square" lIns="0" rIns="0" tIns="0" bIns="0" anchor="t">
            <a:spAutoFit/>
          </a:bodyPr>
          <a:lstStyle/>
          <a:p>
            <a:pPr algn="l"/>
            <a:r>
              <a:rPr sz="850" b="1" i="0">
                <a:solidFill>
                  <a:srgbClr val="0F2A4A"/>
                </a:solidFill>
                <a:latin typeface="Segoe UI"/>
              </a:rPr>
              <a:t>APTOS 2019</a:t>
            </a:r>
          </a:p>
        </p:txBody>
      </p:sp>
      <p:sp>
        <p:nvSpPr>
          <p:cNvPr id="19" name="TextBox 18"/>
          <p:cNvSpPr txBox="1"/>
          <p:nvPr/>
        </p:nvSpPr>
        <p:spPr>
          <a:xfrm>
            <a:off x="8477250" y="1771650"/>
            <a:ext cx="3181350" cy="285750"/>
          </a:xfrm>
          <a:prstGeom prst="rect">
            <a:avLst/>
          </a:prstGeom>
          <a:noFill/>
        </p:spPr>
        <p:txBody>
          <a:bodyPr wrap="square" lIns="0" rIns="0" tIns="0" bIns="0" anchor="t">
            <a:spAutoFit/>
          </a:bodyPr>
          <a:lstStyle/>
          <a:p>
            <a:pPr algn="l">
              <a:lnSpc>
                <a:spcPct val="130000"/>
              </a:lnSpc>
            </a:pPr>
            <a:r>
              <a:rPr sz="800" b="0" i="0">
                <a:solidFill>
                  <a:srgbClr val="40505F"/>
                </a:solidFill>
                <a:latin typeface="Segoe UI"/>
              </a:rPr>
              <a:t>grading data. Used.</a:t>
            </a:r>
          </a:p>
        </p:txBody>
      </p:sp>
      <p:sp>
        <p:nvSpPr>
          <p:cNvPr id="20" name="TextBox 19"/>
          <p:cNvSpPr txBox="1"/>
          <p:nvPr/>
        </p:nvSpPr>
        <p:spPr>
          <a:xfrm>
            <a:off x="6667500" y="2076450"/>
            <a:ext cx="1714500" cy="152400"/>
          </a:xfrm>
          <a:prstGeom prst="rect">
            <a:avLst/>
          </a:prstGeom>
          <a:noFill/>
        </p:spPr>
        <p:txBody>
          <a:bodyPr wrap="square" lIns="0" rIns="0" tIns="0" bIns="0" anchor="t">
            <a:spAutoFit/>
          </a:bodyPr>
          <a:lstStyle/>
          <a:p>
            <a:pPr algn="l"/>
            <a:r>
              <a:rPr sz="850" b="1" i="0">
                <a:solidFill>
                  <a:srgbClr val="0F2A4A"/>
                </a:solidFill>
                <a:latin typeface="Segoe UI"/>
              </a:rPr>
              <a:t>IDRiD</a:t>
            </a:r>
          </a:p>
        </p:txBody>
      </p:sp>
      <p:sp>
        <p:nvSpPr>
          <p:cNvPr id="21" name="TextBox 20"/>
          <p:cNvSpPr txBox="1"/>
          <p:nvPr/>
        </p:nvSpPr>
        <p:spPr>
          <a:xfrm>
            <a:off x="8477250" y="2076450"/>
            <a:ext cx="3181350" cy="285750"/>
          </a:xfrm>
          <a:prstGeom prst="rect">
            <a:avLst/>
          </a:prstGeom>
          <a:noFill/>
        </p:spPr>
        <p:txBody>
          <a:bodyPr wrap="square" lIns="0" rIns="0" tIns="0" bIns="0" anchor="t">
            <a:spAutoFit/>
          </a:bodyPr>
          <a:lstStyle/>
          <a:p>
            <a:pPr algn="l">
              <a:lnSpc>
                <a:spcPct val="130000"/>
              </a:lnSpc>
            </a:pPr>
            <a:r>
              <a:rPr sz="800" b="0" i="0">
                <a:solidFill>
                  <a:srgbClr val="40505F"/>
                </a:solidFill>
                <a:latin typeface="Segoe UI"/>
              </a:rPr>
              <a:t>lesion and optic-disc ground truth. Used for evaluation, not for classifier selection.</a:t>
            </a:r>
          </a:p>
        </p:txBody>
      </p:sp>
      <p:sp>
        <p:nvSpPr>
          <p:cNvPr id="22" name="TextBox 21"/>
          <p:cNvSpPr txBox="1"/>
          <p:nvPr/>
        </p:nvSpPr>
        <p:spPr>
          <a:xfrm>
            <a:off x="6667500" y="2381250"/>
            <a:ext cx="1714500" cy="152400"/>
          </a:xfrm>
          <a:prstGeom prst="rect">
            <a:avLst/>
          </a:prstGeom>
          <a:noFill/>
        </p:spPr>
        <p:txBody>
          <a:bodyPr wrap="square" lIns="0" rIns="0" tIns="0" bIns="0" anchor="t">
            <a:spAutoFit/>
          </a:bodyPr>
          <a:lstStyle/>
          <a:p>
            <a:pPr algn="l"/>
            <a:r>
              <a:rPr sz="850" b="1" i="0">
                <a:solidFill>
                  <a:srgbClr val="0F2A4A"/>
                </a:solidFill>
                <a:latin typeface="Segoe UI"/>
              </a:rPr>
              <a:t>DRIVE</a:t>
            </a:r>
          </a:p>
        </p:txBody>
      </p:sp>
      <p:sp>
        <p:nvSpPr>
          <p:cNvPr id="23" name="TextBox 22"/>
          <p:cNvSpPr txBox="1"/>
          <p:nvPr/>
        </p:nvSpPr>
        <p:spPr>
          <a:xfrm>
            <a:off x="8477250" y="2381250"/>
            <a:ext cx="3181350" cy="285750"/>
          </a:xfrm>
          <a:prstGeom prst="rect">
            <a:avLst/>
          </a:prstGeom>
          <a:noFill/>
        </p:spPr>
        <p:txBody>
          <a:bodyPr wrap="square" lIns="0" rIns="0" tIns="0" bIns="0" anchor="t">
            <a:spAutoFit/>
          </a:bodyPr>
          <a:lstStyle/>
          <a:p>
            <a:pPr algn="l">
              <a:lnSpc>
                <a:spcPct val="130000"/>
              </a:lnSpc>
            </a:pPr>
            <a:r>
              <a:rPr sz="800" b="0" i="0">
                <a:solidFill>
                  <a:srgbClr val="40505F"/>
                </a:solidFill>
                <a:latin typeface="Segoe UI"/>
              </a:rPr>
              <a:t>vessel study. Used.</a:t>
            </a:r>
          </a:p>
        </p:txBody>
      </p:sp>
      <p:sp>
        <p:nvSpPr>
          <p:cNvPr id="24" name="TextBox 23"/>
          <p:cNvSpPr txBox="1"/>
          <p:nvPr/>
        </p:nvSpPr>
        <p:spPr>
          <a:xfrm>
            <a:off x="6667500" y="2686050"/>
            <a:ext cx="1714500" cy="152400"/>
          </a:xfrm>
          <a:prstGeom prst="rect">
            <a:avLst/>
          </a:prstGeom>
          <a:noFill/>
        </p:spPr>
        <p:txBody>
          <a:bodyPr wrap="square" lIns="0" rIns="0" tIns="0" bIns="0" anchor="t">
            <a:spAutoFit/>
          </a:bodyPr>
          <a:lstStyle/>
          <a:p>
            <a:pPr algn="l"/>
            <a:r>
              <a:rPr sz="850" b="1" i="0">
                <a:solidFill>
                  <a:srgbClr val="0F2A4A"/>
                </a:solidFill>
                <a:latin typeface="Segoe UI"/>
              </a:rPr>
              <a:t>DRIMDB</a:t>
            </a:r>
          </a:p>
        </p:txBody>
      </p:sp>
      <p:sp>
        <p:nvSpPr>
          <p:cNvPr id="25" name="TextBox 24"/>
          <p:cNvSpPr txBox="1"/>
          <p:nvPr/>
        </p:nvSpPr>
        <p:spPr>
          <a:xfrm>
            <a:off x="8477250" y="2686050"/>
            <a:ext cx="3181350" cy="285750"/>
          </a:xfrm>
          <a:prstGeom prst="rect">
            <a:avLst/>
          </a:prstGeom>
          <a:noFill/>
        </p:spPr>
        <p:txBody>
          <a:bodyPr wrap="square" lIns="0" rIns="0" tIns="0" bIns="0" anchor="t">
            <a:spAutoFit/>
          </a:bodyPr>
          <a:lstStyle/>
          <a:p>
            <a:pPr algn="l">
              <a:lnSpc>
                <a:spcPct val="130000"/>
              </a:lnSpc>
            </a:pPr>
            <a:r>
              <a:rPr sz="800" b="0" i="0">
                <a:solidFill>
                  <a:srgbClr val="40505F"/>
                </a:solidFill>
                <a:latin typeface="Segoe UI"/>
              </a:rPr>
              <a:t>downloaded and licence-cleared, used only in the unseen-input rehearsal. Not used in any reported result.</a:t>
            </a:r>
          </a:p>
        </p:txBody>
      </p:sp>
      <p:sp>
        <p:nvSpPr>
          <p:cNvPr id="26" name="TextBox 25"/>
          <p:cNvSpPr txBox="1"/>
          <p:nvPr/>
        </p:nvSpPr>
        <p:spPr>
          <a:xfrm>
            <a:off x="6667500" y="2990850"/>
            <a:ext cx="1714500" cy="152400"/>
          </a:xfrm>
          <a:prstGeom prst="rect">
            <a:avLst/>
          </a:prstGeom>
          <a:noFill/>
        </p:spPr>
        <p:txBody>
          <a:bodyPr wrap="square" lIns="0" rIns="0" tIns="0" bIns="0" anchor="t">
            <a:spAutoFit/>
          </a:bodyPr>
          <a:lstStyle/>
          <a:p>
            <a:pPr algn="l"/>
            <a:r>
              <a:rPr sz="850" b="1" i="0">
                <a:solidFill>
                  <a:srgbClr val="0F2A4A"/>
                </a:solidFill>
                <a:latin typeface="Segoe UI"/>
              </a:rPr>
              <a:t>Messidor-2, Sin-NP DR 2019</a:t>
            </a:r>
          </a:p>
        </p:txBody>
      </p:sp>
      <p:sp>
        <p:nvSpPr>
          <p:cNvPr id="27" name="TextBox 26"/>
          <p:cNvSpPr txBox="1"/>
          <p:nvPr/>
        </p:nvSpPr>
        <p:spPr>
          <a:xfrm>
            <a:off x="8477250" y="2990850"/>
            <a:ext cx="3181350" cy="285750"/>
          </a:xfrm>
          <a:prstGeom prst="rect">
            <a:avLst/>
          </a:prstGeom>
          <a:noFill/>
        </p:spPr>
        <p:txBody>
          <a:bodyPr wrap="square" lIns="0" rIns="0" tIns="0" bIns="0" anchor="t">
            <a:spAutoFit/>
          </a:bodyPr>
          <a:lstStyle/>
          <a:p>
            <a:pPr algn="l">
              <a:lnSpc>
                <a:spcPct val="130000"/>
              </a:lnSpc>
            </a:pPr>
            <a:r>
              <a:rPr sz="800" b="0" i="0">
                <a:solidFill>
                  <a:srgbClr val="40505F"/>
                </a:solidFill>
                <a:latin typeface="Segoe UI"/>
              </a:rPr>
              <a:t>not obtained. External validation remains blocked.</a:t>
            </a:r>
          </a:p>
        </p:txBody>
      </p:sp>
      <p:sp>
        <p:nvSpPr>
          <p:cNvPr id="28" name="TextBox 27"/>
          <p:cNvSpPr txBox="1"/>
          <p:nvPr/>
        </p:nvSpPr>
        <p:spPr>
          <a:xfrm>
            <a:off x="6667500" y="3352800"/>
            <a:ext cx="4991100" cy="171450"/>
          </a:xfrm>
          <a:prstGeom prst="rect">
            <a:avLst/>
          </a:prstGeom>
          <a:noFill/>
        </p:spPr>
        <p:txBody>
          <a:bodyPr wrap="square" lIns="0" rIns="0" tIns="0" bIns="0" anchor="t">
            <a:spAutoFit/>
          </a:bodyPr>
          <a:lstStyle/>
          <a:p>
            <a:pPr algn="l"/>
            <a:r>
              <a:rPr sz="900" b="1" i="0">
                <a:solidFill>
                  <a:srgbClr val="7C8B9A"/>
                </a:solidFill>
                <a:latin typeface="Segoe UI"/>
              </a:rPr>
              <a:t>REFERENCES</a:t>
            </a:r>
          </a:p>
        </p:txBody>
      </p:sp>
      <p:sp>
        <p:nvSpPr>
          <p:cNvPr id="29" name="TextBox 28"/>
          <p:cNvSpPr txBox="1"/>
          <p:nvPr/>
        </p:nvSpPr>
        <p:spPr>
          <a:xfrm>
            <a:off x="6667500" y="3562350"/>
            <a:ext cx="1809750" cy="152400"/>
          </a:xfrm>
          <a:prstGeom prst="rect">
            <a:avLst/>
          </a:prstGeom>
          <a:noFill/>
        </p:spPr>
        <p:txBody>
          <a:bodyPr wrap="square" lIns="0" rIns="0" tIns="0" bIns="0" anchor="t">
            <a:spAutoFit/>
          </a:bodyPr>
          <a:lstStyle/>
          <a:p>
            <a:pPr algn="l"/>
            <a:r>
              <a:rPr sz="800" b="1" i="0">
                <a:solidFill>
                  <a:srgbClr val="0F2A4A"/>
                </a:solidFill>
                <a:latin typeface="Segoe UI"/>
              </a:rPr>
              <a:t>Vashist P. et al. (2021)</a:t>
            </a:r>
          </a:p>
        </p:txBody>
      </p:sp>
      <p:sp>
        <p:nvSpPr>
          <p:cNvPr id="30" name="TextBox 29"/>
          <p:cNvSpPr txBox="1"/>
          <p:nvPr/>
        </p:nvSpPr>
        <p:spPr>
          <a:xfrm>
            <a:off x="8572500" y="3562350"/>
            <a:ext cx="3086100" cy="285750"/>
          </a:xfrm>
          <a:prstGeom prst="rect">
            <a:avLst/>
          </a:prstGeom>
          <a:noFill/>
        </p:spPr>
        <p:txBody>
          <a:bodyPr wrap="square" lIns="0" rIns="0" tIns="0" bIns="0" anchor="t">
            <a:spAutoFit/>
          </a:bodyPr>
          <a:lstStyle/>
          <a:p>
            <a:pPr algn="l">
              <a:lnSpc>
                <a:spcPct val="125000"/>
              </a:lnSpc>
            </a:pPr>
            <a:r>
              <a:rPr sz="700" b="0" i="0">
                <a:solidFill>
                  <a:srgbClr val="40505F"/>
                </a:solidFill>
                <a:latin typeface="Segoe UI"/>
              </a:rPr>
              <a:t>National survey of DR, 21 districts, n = 5,986 examined. Indian J Ophthalmol 69(11):3087-3094. doi:10.4103/ijo.IJO_1310_21</a:t>
            </a:r>
          </a:p>
        </p:txBody>
      </p:sp>
      <p:sp>
        <p:nvSpPr>
          <p:cNvPr id="31" name="TextBox 30"/>
          <p:cNvSpPr txBox="1"/>
          <p:nvPr/>
        </p:nvSpPr>
        <p:spPr>
          <a:xfrm>
            <a:off x="6667500" y="3848100"/>
            <a:ext cx="1809750" cy="152400"/>
          </a:xfrm>
          <a:prstGeom prst="rect">
            <a:avLst/>
          </a:prstGeom>
          <a:noFill/>
        </p:spPr>
        <p:txBody>
          <a:bodyPr wrap="square" lIns="0" rIns="0" tIns="0" bIns="0" anchor="t">
            <a:spAutoFit/>
          </a:bodyPr>
          <a:lstStyle/>
          <a:p>
            <a:pPr algn="l"/>
            <a:r>
              <a:rPr sz="800" b="1" i="0">
                <a:solidFill>
                  <a:srgbClr val="0F2A4A"/>
                </a:solidFill>
                <a:latin typeface="Segoe UI"/>
              </a:rPr>
              <a:t>Jotheeswaran A.T. et al. (2016)</a:t>
            </a:r>
          </a:p>
        </p:txBody>
      </p:sp>
      <p:sp>
        <p:nvSpPr>
          <p:cNvPr id="32" name="TextBox 31"/>
          <p:cNvSpPr txBox="1"/>
          <p:nvPr/>
        </p:nvSpPr>
        <p:spPr>
          <a:xfrm>
            <a:off x="8572500" y="3848100"/>
            <a:ext cx="3086100" cy="285750"/>
          </a:xfrm>
          <a:prstGeom prst="rect">
            <a:avLst/>
          </a:prstGeom>
          <a:noFill/>
        </p:spPr>
        <p:txBody>
          <a:bodyPr wrap="square" lIns="0" rIns="0" tIns="0" bIns="0" anchor="t">
            <a:spAutoFit/>
          </a:bodyPr>
          <a:lstStyle/>
          <a:p>
            <a:pPr algn="l">
              <a:lnSpc>
                <a:spcPct val="125000"/>
              </a:lnSpc>
            </a:pPr>
            <a:r>
              <a:rPr sz="700" b="0" i="0">
                <a:solidFill>
                  <a:srgbClr val="40505F"/>
                </a:solidFill>
                <a:latin typeface="Segoe UI"/>
              </a:rPr>
              <a:t>DR prevalence by age band, systematic review. Indian J Endocrinol Metab 20(Suppl 1):S51-S58. doi:10.4103/2230-8210.179774</a:t>
            </a:r>
          </a:p>
        </p:txBody>
      </p:sp>
      <p:sp>
        <p:nvSpPr>
          <p:cNvPr id="33" name="TextBox 32"/>
          <p:cNvSpPr txBox="1"/>
          <p:nvPr/>
        </p:nvSpPr>
        <p:spPr>
          <a:xfrm>
            <a:off x="6667500" y="4133850"/>
            <a:ext cx="1809750" cy="152400"/>
          </a:xfrm>
          <a:prstGeom prst="rect">
            <a:avLst/>
          </a:prstGeom>
          <a:noFill/>
        </p:spPr>
        <p:txBody>
          <a:bodyPr wrap="square" lIns="0" rIns="0" tIns="0" bIns="0" anchor="t">
            <a:spAutoFit/>
          </a:bodyPr>
          <a:lstStyle/>
          <a:p>
            <a:pPr algn="l"/>
            <a:r>
              <a:rPr sz="800" b="1" i="0">
                <a:solidFill>
                  <a:srgbClr val="0F2A4A"/>
                </a:solidFill>
                <a:latin typeface="Segoe UI"/>
              </a:rPr>
              <a:t>Vashist P. et al. (2025)</a:t>
            </a:r>
          </a:p>
        </p:txBody>
      </p:sp>
      <p:sp>
        <p:nvSpPr>
          <p:cNvPr id="34" name="TextBox 33"/>
          <p:cNvSpPr txBox="1"/>
          <p:nvPr/>
        </p:nvSpPr>
        <p:spPr>
          <a:xfrm>
            <a:off x="8572500" y="4133850"/>
            <a:ext cx="3086100" cy="285750"/>
          </a:xfrm>
          <a:prstGeom prst="rect">
            <a:avLst/>
          </a:prstGeom>
          <a:noFill/>
        </p:spPr>
        <p:txBody>
          <a:bodyPr wrap="square" lIns="0" rIns="0" tIns="0" bIns="0" anchor="t">
            <a:spAutoFit/>
          </a:bodyPr>
          <a:lstStyle/>
          <a:p>
            <a:pPr algn="l">
              <a:lnSpc>
                <a:spcPct val="125000"/>
              </a:lnSpc>
            </a:pPr>
            <a:r>
              <a:rPr sz="700" b="0" i="0">
                <a:solidFill>
                  <a:srgbClr val="40505F"/>
                </a:solidFill>
                <a:latin typeface="Segoe UI"/>
              </a:rPr>
              <a:t>Ophthalmic workforce and infrastructure, national survey. Indian J Ophthalmol 73(11):1679-1686. doi:10.4103/IJO.IJO_2816_24</a:t>
            </a:r>
          </a:p>
        </p:txBody>
      </p:sp>
      <p:sp>
        <p:nvSpPr>
          <p:cNvPr id="35" name="TextBox 34"/>
          <p:cNvSpPr txBox="1"/>
          <p:nvPr/>
        </p:nvSpPr>
        <p:spPr>
          <a:xfrm>
            <a:off x="6667500" y="4419600"/>
            <a:ext cx="1809750" cy="152400"/>
          </a:xfrm>
          <a:prstGeom prst="rect">
            <a:avLst/>
          </a:prstGeom>
          <a:noFill/>
        </p:spPr>
        <p:txBody>
          <a:bodyPr wrap="square" lIns="0" rIns="0" tIns="0" bIns="0" anchor="t">
            <a:spAutoFit/>
          </a:bodyPr>
          <a:lstStyle/>
          <a:p>
            <a:pPr algn="l"/>
            <a:r>
              <a:rPr sz="800" b="1" i="0">
                <a:solidFill>
                  <a:srgbClr val="0F2A4A"/>
                </a:solidFill>
                <a:latin typeface="Segoe UI"/>
              </a:rPr>
              <a:t>Sun H. et al. (2021)</a:t>
            </a:r>
          </a:p>
        </p:txBody>
      </p:sp>
      <p:sp>
        <p:nvSpPr>
          <p:cNvPr id="36" name="TextBox 35"/>
          <p:cNvSpPr txBox="1"/>
          <p:nvPr/>
        </p:nvSpPr>
        <p:spPr>
          <a:xfrm>
            <a:off x="8572500" y="4419600"/>
            <a:ext cx="3086100" cy="285750"/>
          </a:xfrm>
          <a:prstGeom prst="rect">
            <a:avLst/>
          </a:prstGeom>
          <a:noFill/>
        </p:spPr>
        <p:txBody>
          <a:bodyPr wrap="square" lIns="0" rIns="0" tIns="0" bIns="0" anchor="t">
            <a:spAutoFit/>
          </a:bodyPr>
          <a:lstStyle/>
          <a:p>
            <a:pPr algn="l">
              <a:lnSpc>
                <a:spcPct val="125000"/>
              </a:lnSpc>
            </a:pPr>
            <a:r>
              <a:rPr sz="700" b="0" i="0">
                <a:solidFill>
                  <a:srgbClr val="40505F"/>
                </a:solidFill>
                <a:latin typeface="Segoe UI"/>
              </a:rPr>
              <a:t>IDF Diabetes Atlas 10th edition, India estimate. Diabetes Res Clin Pract 183:109119. doi:10.1016/j.diabres.2021.109119</a:t>
            </a:r>
          </a:p>
        </p:txBody>
      </p:sp>
      <p:sp>
        <p:nvSpPr>
          <p:cNvPr id="37" name="TextBox 36"/>
          <p:cNvSpPr txBox="1"/>
          <p:nvPr/>
        </p:nvSpPr>
        <p:spPr>
          <a:xfrm>
            <a:off x="6667500" y="4705350"/>
            <a:ext cx="1809750" cy="152400"/>
          </a:xfrm>
          <a:prstGeom prst="rect">
            <a:avLst/>
          </a:prstGeom>
          <a:noFill/>
        </p:spPr>
        <p:txBody>
          <a:bodyPr wrap="square" lIns="0" rIns="0" tIns="0" bIns="0" anchor="t">
            <a:spAutoFit/>
          </a:bodyPr>
          <a:lstStyle/>
          <a:p>
            <a:pPr algn="l"/>
            <a:r>
              <a:rPr sz="800" b="1" i="0">
                <a:solidFill>
                  <a:srgbClr val="0F2A4A"/>
                </a:solidFill>
                <a:latin typeface="Segoe UI"/>
              </a:rPr>
              <a:t>Anjana R.M. et al. (2023)</a:t>
            </a:r>
          </a:p>
        </p:txBody>
      </p:sp>
      <p:sp>
        <p:nvSpPr>
          <p:cNvPr id="38" name="TextBox 37"/>
          <p:cNvSpPr txBox="1"/>
          <p:nvPr/>
        </p:nvSpPr>
        <p:spPr>
          <a:xfrm>
            <a:off x="8572500" y="4705350"/>
            <a:ext cx="3086100" cy="285750"/>
          </a:xfrm>
          <a:prstGeom prst="rect">
            <a:avLst/>
          </a:prstGeom>
          <a:noFill/>
        </p:spPr>
        <p:txBody>
          <a:bodyPr wrap="square" lIns="0" rIns="0" tIns="0" bIns="0" anchor="t">
            <a:spAutoFit/>
          </a:bodyPr>
          <a:lstStyle/>
          <a:p>
            <a:pPr algn="l">
              <a:lnSpc>
                <a:spcPct val="125000"/>
              </a:lnSpc>
            </a:pPr>
            <a:r>
              <a:rPr sz="700" b="0" i="0">
                <a:solidFill>
                  <a:srgbClr val="40505F"/>
                </a:solidFill>
                <a:latin typeface="Segoe UI"/>
              </a:rPr>
              <a:t>ICMR-INDIAB-17 national diabetes survey. Lancet Diabetes Endocrinol. doi:10.1016/S2213-8587(23)00119-5</a:t>
            </a:r>
          </a:p>
        </p:txBody>
      </p:sp>
      <p:sp>
        <p:nvSpPr>
          <p:cNvPr id="39" name="TextBox 38"/>
          <p:cNvSpPr txBox="1"/>
          <p:nvPr/>
        </p:nvSpPr>
        <p:spPr>
          <a:xfrm>
            <a:off x="6667500" y="4991100"/>
            <a:ext cx="1809750" cy="152400"/>
          </a:xfrm>
          <a:prstGeom prst="rect">
            <a:avLst/>
          </a:prstGeom>
          <a:noFill/>
        </p:spPr>
        <p:txBody>
          <a:bodyPr wrap="square" lIns="0" rIns="0" tIns="0" bIns="0" anchor="t">
            <a:spAutoFit/>
          </a:bodyPr>
          <a:lstStyle/>
          <a:p>
            <a:pPr algn="l"/>
            <a:r>
              <a:rPr sz="800" b="1" i="0">
                <a:solidFill>
                  <a:srgbClr val="0F2A4A"/>
                </a:solidFill>
                <a:latin typeface="Segoe UI"/>
              </a:rPr>
              <a:t>Pradeepa R., Mohan V. (2021)</a:t>
            </a:r>
          </a:p>
        </p:txBody>
      </p:sp>
      <p:sp>
        <p:nvSpPr>
          <p:cNvPr id="40" name="TextBox 39"/>
          <p:cNvSpPr txBox="1"/>
          <p:nvPr/>
        </p:nvSpPr>
        <p:spPr>
          <a:xfrm>
            <a:off x="8572500" y="4991100"/>
            <a:ext cx="3086100" cy="285750"/>
          </a:xfrm>
          <a:prstGeom prst="rect">
            <a:avLst/>
          </a:prstGeom>
          <a:noFill/>
        </p:spPr>
        <p:txBody>
          <a:bodyPr wrap="square" lIns="0" rIns="0" tIns="0" bIns="0" anchor="t">
            <a:spAutoFit/>
          </a:bodyPr>
          <a:lstStyle/>
          <a:p>
            <a:pPr algn="l">
              <a:lnSpc>
                <a:spcPct val="125000"/>
              </a:lnSpc>
            </a:pPr>
            <a:r>
              <a:rPr sz="700" b="0" i="0">
                <a:solidFill>
                  <a:srgbClr val="40505F"/>
                </a:solidFill>
                <a:latin typeface="Segoe UI"/>
              </a:rPr>
              <a:t>Tabulation of the IDF 2019 India estimate. Indian J Ophthalmol 69(11):2932-2938. doi:10.4103/ijo.IJO_1627_21</a:t>
            </a:r>
          </a:p>
        </p:txBody>
      </p:sp>
      <p:sp>
        <p:nvSpPr>
          <p:cNvPr id="41" name="Rectangle 40"/>
          <p:cNvSpPr/>
          <p:nvPr/>
        </p:nvSpPr>
        <p:spPr>
          <a:xfrm>
            <a:off x="533400" y="3676650"/>
            <a:ext cx="5715000" cy="1257300"/>
          </a:xfrm>
          <a:prstGeom prst="rect">
            <a:avLst/>
          </a:prstGeom>
          <a:solidFill>
            <a:srgbClr val="F6F8FA"/>
          </a:solidFill>
          <a:ln w="1270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5800" y="3810000"/>
            <a:ext cx="5410200" cy="1047750"/>
          </a:xfrm>
          <a:prstGeom prst="rect">
            <a:avLst/>
          </a:prstGeom>
          <a:noFill/>
        </p:spPr>
        <p:txBody>
          <a:bodyPr wrap="square" lIns="0" rIns="0" tIns="0" bIns="0" anchor="t">
            <a:spAutoFit/>
          </a:bodyPr>
          <a:lstStyle/>
          <a:p>
            <a:pPr algn="l"/>
            <a:r>
              <a:rPr sz="1000" b="1" i="0">
                <a:solidFill>
                  <a:srgbClr val="0F2A4A"/>
                </a:solidFill>
                <a:latin typeface="Segoe UI"/>
              </a:rPr>
              <a:t>How to read every number in this deck.</a:t>
            </a:r>
          </a:p>
          <a:p>
            <a:pPr algn="l">
              <a:lnSpc>
                <a:spcPct val="140000"/>
              </a:lnSpc>
              <a:spcBef>
                <a:spcPts val="600"/>
              </a:spcBef>
            </a:pPr>
            <a:r>
              <a:rPr sz="850" b="0" i="0">
                <a:solidFill>
                  <a:srgbClr val="40505F"/>
                </a:solidFill>
                <a:latin typeface="Segoe UI"/>
              </a:rPr>
              <a:t>Each is traceable to a committed artifact - the frozen contract, the validation reports, the rehearsal record, the simulation CSV, or a cited publication with a DOI. Where a figure was only provisional, we labelled it provisional rather than dropping the caveat. Where our own earlier draft did not survive verification, we left it visible and marked it unsupported. We would rather show a weaker number we can defend than a stronger one we cannot.</a:t>
            </a:r>
          </a:p>
        </p:txBody>
      </p:sp>
      <p:sp>
        <p:nvSpPr>
          <p:cNvPr id="43" name="Rectangle 42"/>
          <p:cNvSpPr/>
          <p:nvPr/>
        </p:nvSpPr>
        <p:spPr>
          <a:xfrm>
            <a:off x="533400" y="6419850"/>
            <a:ext cx="11125200" cy="9525"/>
          </a:xfrm>
          <a:prstGeom prst="rect">
            <a:avLst/>
          </a:prstGeom>
          <a:solidFill>
            <a:srgbClr val="E4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33400" y="6496050"/>
            <a:ext cx="10744200" cy="247650"/>
          </a:xfrm>
          <a:prstGeom prst="rect">
            <a:avLst/>
          </a:prstGeom>
          <a:noFill/>
        </p:spPr>
        <p:txBody>
          <a:bodyPr wrap="square" lIns="0" rIns="0" tIns="0" bIns="0" anchor="t">
            <a:spAutoFit/>
          </a:bodyPr>
          <a:lstStyle/>
          <a:p>
            <a:pPr algn="l">
              <a:lnSpc>
                <a:spcPct val="125000"/>
              </a:lnSpc>
            </a:pPr>
            <a:r>
              <a:rPr sz="750" b="0" i="0">
                <a:solidFill>
                  <a:srgbClr val="7C8B9A"/>
                </a:solidFill>
                <a:latin typeface="Segoe UI"/>
              </a:rPr>
              <a:t>DrishtiCare is an engineering prototype for Smart India Hackathon 2026. Not a clinical device. No clinical validation has been performed. Not for diagnosis, treatment or triage decisions.</a:t>
            </a:r>
          </a:p>
        </p:txBody>
      </p:sp>
      <p:sp>
        <p:nvSpPr>
          <p:cNvPr id="45" name="TextBox 44"/>
          <p:cNvSpPr txBox="1"/>
          <p:nvPr/>
        </p:nvSpPr>
        <p:spPr>
          <a:xfrm>
            <a:off x="11372850" y="6496050"/>
            <a:ext cx="285750" cy="133350"/>
          </a:xfrm>
          <a:prstGeom prst="rect">
            <a:avLst/>
          </a:prstGeom>
          <a:noFill/>
        </p:spPr>
        <p:txBody>
          <a:bodyPr wrap="square" lIns="0" rIns="0" tIns="0" bIns="0" anchor="t">
            <a:spAutoFit/>
          </a:bodyPr>
          <a:lstStyle/>
          <a:p>
            <a:pPr algn="l"/>
            <a:r>
              <a:rPr sz="850" b="1" i="0">
                <a:solidFill>
                  <a:srgbClr val="7C8B9A"/>
                </a:solidFill>
                <a:latin typeface="Segoe U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